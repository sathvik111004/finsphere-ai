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8" r:id="rId4"/>
    <p:sldId id="269" r:id="rId5"/>
    <p:sldId id="259" r:id="rId6"/>
    <p:sldId id="260" r:id="rId7"/>
    <p:sldId id="261" r:id="rId8"/>
    <p:sldId id="262" r:id="rId9"/>
    <p:sldId id="272" r:id="rId10"/>
    <p:sldId id="273" r:id="rId11"/>
    <p:sldId id="275" r:id="rId12"/>
    <p:sldId id="263" r:id="rId13"/>
    <p:sldId id="264" r:id="rId14"/>
    <p:sldId id="274"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970"/>
    <p:restoredTop sz="69568"/>
  </p:normalViewPr>
  <p:slideViewPr>
    <p:cSldViewPr snapToGrid="0">
      <p:cViewPr>
        <p:scale>
          <a:sx n="76" d="100"/>
          <a:sy n="76" d="100"/>
        </p:scale>
        <p:origin x="2976" y="24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56F43-661D-C04D-A7F1-0B670A95385B}" type="datetimeFigureOut">
              <a:rPr lang="en-US" smtClean="0"/>
              <a:t>6/21/26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E8CAE0-BA58-C049-A3EB-A10918DBAE81}" type="slidenum">
              <a:rPr lang="en-US" smtClean="0"/>
              <a:t>‹#›</a:t>
            </a:fld>
            <a:endParaRPr lang="en-US"/>
          </a:p>
        </p:txBody>
      </p:sp>
    </p:spTree>
    <p:extLst>
      <p:ext uri="{BB962C8B-B14F-4D97-AF65-F5344CB8AC3E}">
        <p14:creationId xmlns:p14="http://schemas.microsoft.com/office/powerpoint/2010/main" val="96223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We are going to look at how to bridge the gap between  language models and deterministic machine learning.</a:t>
            </a:r>
          </a:p>
          <a:p>
            <a:r>
              <a:rPr lang="en-IN" dirty="0"/>
              <a:t>My goal is to show you how autonomous agents can completely eliminate financial hallucinations.</a:t>
            </a:r>
          </a:p>
          <a:p>
            <a:endParaRPr lang="en-US" dirty="0"/>
          </a:p>
          <a:p>
            <a:endParaRPr lang="en-US" dirty="0"/>
          </a:p>
          <a:p>
            <a:r>
              <a:rPr lang="en-US" dirty="0"/>
              <a:t>Tech Stack :</a:t>
            </a:r>
            <a:br>
              <a:rPr lang="en-US" dirty="0"/>
            </a:br>
            <a:r>
              <a:rPr lang="en-IN" b="1" dirty="0"/>
              <a:t>Application Layer:</a:t>
            </a:r>
            <a:r>
              <a:rPr lang="en-IN" dirty="0"/>
              <a:t> React / Next.js (Frontend), Python FastAPI / Flask (Backend API).</a:t>
            </a:r>
          </a:p>
          <a:p>
            <a:r>
              <a:rPr lang="en-IN" b="1" dirty="0"/>
              <a:t>AI &amp; Orchestration:</a:t>
            </a:r>
            <a:r>
              <a:rPr lang="en-IN" dirty="0"/>
              <a:t> LangChain (ReAct Agent), OpenAI / Gemini APIs (LLM Engine).</a:t>
            </a:r>
          </a:p>
          <a:p>
            <a:r>
              <a:rPr lang="en-IN" b="1" dirty="0"/>
              <a:t>Data &amp; Retrieval:</a:t>
            </a:r>
            <a:r>
              <a:rPr lang="en-IN" dirty="0"/>
              <a:t> ChromaDB (Vector Store), SentenceTransformers </a:t>
            </a:r>
            <a:r>
              <a:rPr lang="en-IN" sz="1200" kern="1200" dirty="0">
                <a:solidFill>
                  <a:schemeClr val="tx1"/>
                </a:solidFill>
                <a:latin typeface="+mn-lt"/>
                <a:ea typeface="+mn-ea"/>
                <a:cs typeface="+mn-cs"/>
              </a:rPr>
              <a:t>all-MiniLM-L6-v2</a:t>
            </a:r>
            <a:r>
              <a:rPr lang="en-IN" dirty="0"/>
              <a:t> (Embeddings).</a:t>
            </a:r>
          </a:p>
          <a:p>
            <a:r>
              <a:rPr lang="en-IN" b="1" dirty="0"/>
              <a:t>Machine Learning (Solvers):</a:t>
            </a:r>
            <a:r>
              <a:rPr lang="en-IN" dirty="0"/>
              <a:t> Scikit-learn (Random Forest, Ridge Regression, Isolation Forest).</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1</a:t>
            </a:fld>
            <a:endParaRPr lang="en-US"/>
          </a:p>
        </p:txBody>
      </p:sp>
    </p:spTree>
    <p:extLst>
      <p:ext uri="{BB962C8B-B14F-4D97-AF65-F5344CB8AC3E}">
        <p14:creationId xmlns:p14="http://schemas.microsoft.com/office/powerpoint/2010/main" val="3685641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The current financial audit process is a severe manual bottleneck, relying on disconnected legacy systems.</a:t>
            </a:r>
          </a:p>
          <a:p>
            <a:endParaRPr lang="en-IN" dirty="0"/>
          </a:p>
          <a:p>
            <a:r>
              <a:rPr lang="en-IN" dirty="0"/>
              <a:t>Generative AI seems like a fix, but standard LLMs fall into the "hallucination loophole" when handling raw math.</a:t>
            </a:r>
          </a:p>
          <a:p>
            <a:endParaRPr lang="en-IN" dirty="0"/>
          </a:p>
          <a:p>
            <a:r>
              <a:rPr lang="en-IN" dirty="0"/>
              <a:t>You cannot trust a standard chatbot to calculate a company's solvency ratio off a messy PDF balance sheet.</a:t>
            </a:r>
          </a:p>
          <a:p>
            <a:endParaRPr lang="en-IN" dirty="0"/>
          </a:p>
          <a:p>
            <a:r>
              <a:rPr lang="en-IN" dirty="0"/>
              <a:t>Auditors are stuck manually porting metrics between unstructured text search and predictive engines.</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2</a:t>
            </a:fld>
            <a:endParaRPr lang="en-US"/>
          </a:p>
        </p:txBody>
      </p:sp>
    </p:spTree>
    <p:extLst>
      <p:ext uri="{BB962C8B-B14F-4D97-AF65-F5344CB8AC3E}">
        <p14:creationId xmlns:p14="http://schemas.microsoft.com/office/powerpoint/2010/main" val="701902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To solve this, FinSphereAI acts as a unified AI copilot workspace.</a:t>
            </a:r>
          </a:p>
          <a:p>
            <a:endParaRPr lang="en-IN" dirty="0"/>
          </a:p>
          <a:p>
            <a:r>
              <a:rPr lang="en-IN" dirty="0"/>
              <a:t>It replaces those fragmented tools, giving auditors a single interface for secure, session-isolated document management.</a:t>
            </a:r>
          </a:p>
          <a:p>
            <a:endParaRPr lang="en-IN" dirty="0"/>
          </a:p>
          <a:p>
            <a:r>
              <a:rPr lang="en-IN" dirty="0"/>
              <a:t>Instead of switching tabs, the user selects a 10-K filing, and the system dynamically injects it into the chat context.</a:t>
            </a:r>
          </a:p>
          <a:p>
            <a:endParaRPr lang="en-IN" dirty="0"/>
          </a:p>
          <a:p>
            <a:r>
              <a:rPr lang="en-IN" dirty="0"/>
              <a:t>It bridges the gap between raw document storage and active analysis.</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3</a:t>
            </a:fld>
            <a:endParaRPr lang="en-US"/>
          </a:p>
        </p:txBody>
      </p:sp>
    </p:spTree>
    <p:extLst>
      <p:ext uri="{BB962C8B-B14F-4D97-AF65-F5344CB8AC3E}">
        <p14:creationId xmlns:p14="http://schemas.microsoft.com/office/powerpoint/2010/main" val="4105869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This is where we leave standard LLMs behind and introduce deterministic machine learning.</a:t>
            </a:r>
          </a:p>
          <a:p>
            <a:endParaRPr lang="en-IN" dirty="0"/>
          </a:p>
          <a:p>
            <a:r>
              <a:rPr lang="en-IN" dirty="0"/>
              <a:t>The platform hosts a Solvency Engine running a local Altman Z-Score model for instant bankruptcy risk scoring.</a:t>
            </a:r>
          </a:p>
          <a:p>
            <a:endParaRPr lang="en-IN" dirty="0"/>
          </a:p>
          <a:p>
            <a:r>
              <a:rPr lang="en-IN" dirty="0"/>
              <a:t>We use Ridge Regression to project quarterly revenue trajectories based on historical patterns.</a:t>
            </a:r>
          </a:p>
          <a:p>
            <a:endParaRPr lang="en-IN" dirty="0"/>
          </a:p>
          <a:p>
            <a:r>
              <a:rPr lang="en-IN" dirty="0"/>
              <a:t>Finally, an Isolation Forest anomaly scanner automatically flags inconsistencies in corporate reporting.</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4</a:t>
            </a:fld>
            <a:endParaRPr lang="en-US"/>
          </a:p>
        </p:txBody>
      </p:sp>
    </p:spTree>
    <p:extLst>
      <p:ext uri="{BB962C8B-B14F-4D97-AF65-F5344CB8AC3E}">
        <p14:creationId xmlns:p14="http://schemas.microsoft.com/office/powerpoint/2010/main" val="1677802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The brain of this operation is the ReAct chatbot agent.</a:t>
            </a:r>
          </a:p>
          <a:p>
            <a:endParaRPr lang="en-IN" dirty="0"/>
          </a:p>
          <a:p>
            <a:r>
              <a:rPr lang="en-IN" dirty="0"/>
              <a:t>Standard models just generate text, but this agent operates in a continuous loop of reasoning and action.</a:t>
            </a:r>
          </a:p>
          <a:p>
            <a:endParaRPr lang="en-IN" dirty="0"/>
          </a:p>
          <a:p>
            <a:r>
              <a:rPr lang="en-IN" dirty="0"/>
              <a:t>First, it stops to "Think" and determine exactly what financial data is required.</a:t>
            </a:r>
          </a:p>
          <a:p>
            <a:endParaRPr lang="en-IN" dirty="0"/>
          </a:p>
          <a:p>
            <a:r>
              <a:rPr lang="en-IN" dirty="0"/>
              <a:t>Then it takes an "Action" by executing a specific tool, observing the output to decide if it has the final answer.</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5</a:t>
            </a:fld>
            <a:endParaRPr lang="en-US"/>
          </a:p>
        </p:txBody>
      </p:sp>
    </p:spTree>
    <p:extLst>
      <p:ext uri="{BB962C8B-B14F-4D97-AF65-F5344CB8AC3E}">
        <p14:creationId xmlns:p14="http://schemas.microsoft.com/office/powerpoint/2010/main" val="3463090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This creates a true hybrid architecture that gives us the best of both worlds.</a:t>
            </a:r>
          </a:p>
          <a:p>
            <a:endParaRPr lang="en-IN" dirty="0"/>
          </a:p>
          <a:p>
            <a:r>
              <a:rPr lang="en-IN" dirty="0"/>
              <a:t>We use a LangChain-orchestrated core to handle the conversational reasoning and multi-turn memory.</a:t>
            </a:r>
          </a:p>
          <a:p>
            <a:endParaRPr lang="en-IN" dirty="0"/>
          </a:p>
          <a:p>
            <a:r>
              <a:rPr lang="en-IN" dirty="0"/>
              <a:t>But we strictly offload the heavy lifting to our deterministic predictive solvers.</a:t>
            </a:r>
          </a:p>
          <a:p>
            <a:endParaRPr lang="en-IN" dirty="0"/>
          </a:p>
          <a:p>
            <a:r>
              <a:rPr lang="en-IN" dirty="0"/>
              <a:t>This guarantees 100% calculation accuracy while maintaining a natural, conversational user experience.</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6</a:t>
            </a:fld>
            <a:endParaRPr lang="en-US"/>
          </a:p>
        </p:txBody>
      </p:sp>
    </p:spTree>
    <p:extLst>
      <p:ext uri="{BB962C8B-B14F-4D97-AF65-F5344CB8AC3E}">
        <p14:creationId xmlns:p14="http://schemas.microsoft.com/office/powerpoint/2010/main" val="1755440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This flowchart represents the core brain of the project. When a user inputs a query, it doesn't just pass through an LLM for a static response. It enters a LangChain-orchestrated ReAct loop.</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The agent first stops to 'Think'—it evaluates exactly what financial data is required. From there, the action selection routing takes over. If the user asks a qualitative question, like 'What are the risks?', it routes down the bottom path: embedding the query via SentenceTransformers and pulling grounded context from ChromaDB using MMR.</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However, if the user asks a mathematical question—like calculating a bankruptcy risk—the agent bypasses the RAG database entirely. It routes to the top paths, extracting the parameters and invoking our local ML Solvers, like the Random Forest Altman Z-Score tool.</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Finally, whether it pulled text from a PDF or a numerical score from a python model, all that raw data converges back at the Response Layer. The agent synthesizes the findings and outputs a clean, DOMPurify-parsed HTML report. It's a continuous loop of reasoning, routing, and synthesizing."</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7</a:t>
            </a:fld>
            <a:endParaRPr lang="en-US"/>
          </a:p>
        </p:txBody>
      </p:sp>
    </p:spTree>
    <p:extLst>
      <p:ext uri="{BB962C8B-B14F-4D97-AF65-F5344CB8AC3E}">
        <p14:creationId xmlns:p14="http://schemas.microsoft.com/office/powerpoint/2010/main" val="2395988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Under the hood, the Agent Executor handles the logic, specifically managing tool retries if something breaks.</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We use strict </a:t>
            </a:r>
            <a:r>
              <a:rPr lang="en-IN" sz="1200" b="0" i="0" kern="1200" dirty="0" err="1">
                <a:solidFill>
                  <a:schemeClr val="tx1"/>
                </a:solidFill>
                <a:effectLst/>
                <a:latin typeface="+mn-lt"/>
                <a:ea typeface="+mn-ea"/>
                <a:cs typeface="+mn-cs"/>
              </a:rPr>
              <a:t>Pydantic</a:t>
            </a:r>
            <a:r>
              <a:rPr lang="en-IN" sz="1200" b="0" i="0" kern="1200" dirty="0">
                <a:solidFill>
                  <a:schemeClr val="tx1"/>
                </a:solidFill>
                <a:effectLst/>
                <a:latin typeface="+mn-lt"/>
                <a:ea typeface="+mn-ea"/>
                <a:cs typeface="+mn-cs"/>
              </a:rPr>
              <a:t> schemas so the LLM is forced to pass exact, correct parameters to our Python functions.</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To keep costs down and context relevant, a dynamic buffer memory prunes older tokens.</a:t>
            </a:r>
          </a:p>
          <a:p>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This ensures the agent never loses the essential financial thread of the conversation.</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8</a:t>
            </a:fld>
            <a:endParaRPr lang="en-US"/>
          </a:p>
        </p:txBody>
      </p:sp>
    </p:spTree>
    <p:extLst>
      <p:ext uri="{BB962C8B-B14F-4D97-AF65-F5344CB8AC3E}">
        <p14:creationId xmlns:p14="http://schemas.microsoft.com/office/powerpoint/2010/main" val="1451645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Data ingestion isn't just loading PDFs; it requires cleaning to prevent noise in the RAG pipeline.</a:t>
            </a:r>
          </a:p>
          <a:p>
            <a:endParaRPr lang="en-IN" dirty="0"/>
          </a:p>
          <a:p>
            <a:r>
              <a:rPr lang="en-IN" dirty="0"/>
              <a:t>We utilize ChromaDB with MMR retrieval to ensure we pull diverse, non-redundant context.</a:t>
            </a:r>
          </a:p>
          <a:p>
            <a:endParaRPr lang="en-IN" dirty="0"/>
          </a:p>
          <a:p>
            <a:r>
              <a:rPr lang="en-IN" dirty="0"/>
              <a:t>Most importantly, I engineered custom logic to merge broken line fragments back into complete grammatical sentences.</a:t>
            </a:r>
          </a:p>
          <a:p>
            <a:endParaRPr lang="en-IN" dirty="0"/>
          </a:p>
          <a:p>
            <a:r>
              <a:rPr lang="en-IN" dirty="0"/>
              <a:t>This semantic reconstruction is what keeps the extracted financial context pristine.</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9</a:t>
            </a:fld>
            <a:endParaRPr lang="en-US"/>
          </a:p>
        </p:txBody>
      </p:sp>
    </p:spTree>
    <p:extLst>
      <p:ext uri="{BB962C8B-B14F-4D97-AF65-F5344CB8AC3E}">
        <p14:creationId xmlns:p14="http://schemas.microsoft.com/office/powerpoint/2010/main" val="2879781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The core engineering principle here is that the agent is an orchestrator, not a raw calculator.</a:t>
            </a:r>
          </a:p>
          <a:p>
            <a:endParaRPr lang="en-IN" dirty="0"/>
          </a:p>
          <a:p>
            <a:r>
              <a:rPr lang="en-IN" dirty="0"/>
              <a:t>When someone asks for a solvency score, the agent extracts the assets and liabilities, and hands them to a Python script.</a:t>
            </a:r>
          </a:p>
          <a:p>
            <a:endParaRPr lang="en-IN" dirty="0"/>
          </a:p>
          <a:p>
            <a:r>
              <a:rPr lang="en-IN" dirty="0"/>
              <a:t>The Python model computes the exact math and hands the raw output back.</a:t>
            </a:r>
          </a:p>
          <a:p>
            <a:endParaRPr lang="en-IN" dirty="0"/>
          </a:p>
          <a:p>
            <a:r>
              <a:rPr lang="en-IN" dirty="0"/>
              <a:t>The LLM simply formats that quantitative result into a clean, human-readable summary.</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10</a:t>
            </a:fld>
            <a:endParaRPr lang="en-US"/>
          </a:p>
        </p:txBody>
      </p:sp>
    </p:spTree>
    <p:extLst>
      <p:ext uri="{BB962C8B-B14F-4D97-AF65-F5344CB8AC3E}">
        <p14:creationId xmlns:p14="http://schemas.microsoft.com/office/powerpoint/2010/main" val="1553654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Model Fails :</a:t>
            </a:r>
          </a:p>
          <a:p>
            <a:endParaRPr lang="en-IN" dirty="0"/>
          </a:p>
          <a:p>
            <a:r>
              <a:rPr lang="en-IN" dirty="0"/>
              <a:t>A robust system must anticipate failures, especially when passing data between an LLM and local code.</a:t>
            </a:r>
          </a:p>
          <a:p>
            <a:endParaRPr lang="en-IN" dirty="0"/>
          </a:p>
          <a:p>
            <a:r>
              <a:rPr lang="en-IN" dirty="0"/>
              <a:t>If the LLM passes a string instead of an integer, the AgentExecutor catches the Python exception as an observation.</a:t>
            </a:r>
          </a:p>
          <a:p>
            <a:endParaRPr lang="en-IN" dirty="0"/>
          </a:p>
          <a:p>
            <a:r>
              <a:rPr lang="en-IN" dirty="0"/>
              <a:t>The agent reads its own error, corrects the parameter mismatch, and autonomously tries again.</a:t>
            </a:r>
          </a:p>
          <a:p>
            <a:endParaRPr lang="en-IN" dirty="0"/>
          </a:p>
          <a:p>
            <a:r>
              <a:rPr lang="en-IN" dirty="0"/>
              <a:t>If it fails repeatedly, it degrades gracefully with a clean error, completely preventing a hallucinated guess.</a:t>
            </a:r>
          </a:p>
          <a:p>
            <a:endParaRPr lang="en-IN" dirty="0"/>
          </a:p>
          <a:p>
            <a:endParaRPr lang="en-IN" dirty="0"/>
          </a:p>
          <a:p>
            <a:r>
              <a:rPr lang="en-IN" dirty="0"/>
              <a:t>PDF FAILS :</a:t>
            </a:r>
          </a:p>
          <a:p>
            <a:br>
              <a:rPr lang="en-IN" dirty="0"/>
            </a:br>
            <a:r>
              <a:rPr lang="en-IN" dirty="0"/>
              <a:t>I also built safeguards against bad data, like unreadable or scanned PDFs.</a:t>
            </a:r>
          </a:p>
          <a:p>
            <a:endParaRPr lang="en-IN" dirty="0"/>
          </a:p>
          <a:p>
            <a:r>
              <a:rPr lang="en-IN" dirty="0"/>
              <a:t>A pre-ingestion check evaluates the token yield before anything is allowed to be embedded.</a:t>
            </a:r>
          </a:p>
          <a:p>
            <a:endParaRPr lang="en-IN" dirty="0"/>
          </a:p>
          <a:p>
            <a:r>
              <a:rPr lang="en-IN" dirty="0"/>
              <a:t>If a document is empty or corrupt, it is hard-blocked from entering ChromaDB to prevent vector contamination.</a:t>
            </a:r>
          </a:p>
          <a:p>
            <a:endParaRPr lang="en-IN" dirty="0"/>
          </a:p>
          <a:p>
            <a:r>
              <a:rPr lang="en-IN" dirty="0"/>
              <a:t>The UI then instantly alerts the user to run OCR, keeping our database highly accurate.</a:t>
            </a:r>
          </a:p>
          <a:p>
            <a:endParaRPr lang="en-IN" dirty="0"/>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11</a:t>
            </a:fld>
            <a:endParaRPr lang="en-US"/>
          </a:p>
        </p:txBody>
      </p:sp>
    </p:spTree>
    <p:extLst>
      <p:ext uri="{BB962C8B-B14F-4D97-AF65-F5344CB8AC3E}">
        <p14:creationId xmlns:p14="http://schemas.microsoft.com/office/powerpoint/2010/main" val="4192236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Optimization was a massive priority for scaling and lowering latency.</a:t>
            </a:r>
          </a:p>
          <a:p>
            <a:endParaRPr lang="en-IN" dirty="0"/>
          </a:p>
          <a:p>
            <a:r>
              <a:rPr lang="en-IN" dirty="0"/>
              <a:t>I swapped standard character splitting for tiktoken encoder splitting to perfectly align chunks with the LLM's boundaries.</a:t>
            </a:r>
          </a:p>
          <a:p>
            <a:endParaRPr lang="en-IN" dirty="0"/>
          </a:p>
          <a:p>
            <a:r>
              <a:rPr lang="en-IN" dirty="0"/>
              <a:t>Offloading math to local Python models saved thousands of reasoning tokens per query.</a:t>
            </a:r>
          </a:p>
          <a:p>
            <a:endParaRPr lang="en-IN" dirty="0"/>
          </a:p>
          <a:p>
            <a:r>
              <a:rPr lang="en-IN" dirty="0"/>
              <a:t>Looking ahead, semantic prompt caching will allow us to answer repeated queries without even invoking the LLM.</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12</a:t>
            </a:fld>
            <a:endParaRPr lang="en-US"/>
          </a:p>
        </p:txBody>
      </p:sp>
    </p:spTree>
    <p:extLst>
      <p:ext uri="{BB962C8B-B14F-4D97-AF65-F5344CB8AC3E}">
        <p14:creationId xmlns:p14="http://schemas.microsoft.com/office/powerpoint/2010/main" val="3758930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As we look toward scaling, transitioning to a GraphRAG setup with Neo4j will provide context-free formula grounding.</a:t>
            </a:r>
          </a:p>
          <a:p>
            <a:endParaRPr lang="en-IN" dirty="0"/>
          </a:p>
          <a:p>
            <a:r>
              <a:rPr lang="en-IN" dirty="0"/>
              <a:t>I also plan to introduce multi-agent swarms, separating compliance auditing from quantitative ML tasks.</a:t>
            </a:r>
          </a:p>
          <a:p>
            <a:endParaRPr lang="en-IN" dirty="0"/>
          </a:p>
          <a:p>
            <a:r>
              <a:rPr lang="en-IN" dirty="0"/>
              <a:t>Finally, automating the ingestion pipeline directly from SEC EDGAR RSS feeds will make the platform real-time.</a:t>
            </a:r>
          </a:p>
          <a:p>
            <a:endParaRPr lang="en-IN" dirty="0"/>
          </a:p>
          <a:p>
            <a:r>
              <a:rPr lang="en-IN" dirty="0"/>
              <a:t>This lays the groundwork for a truly global, automated auditing tool.</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13</a:t>
            </a:fld>
            <a:endParaRPr lang="en-US"/>
          </a:p>
        </p:txBody>
      </p:sp>
    </p:spTree>
    <p:extLst>
      <p:ext uri="{BB962C8B-B14F-4D97-AF65-F5344CB8AC3E}">
        <p14:creationId xmlns:p14="http://schemas.microsoft.com/office/powerpoint/2010/main" val="4117589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Ultimately, this architecture solved the enterprise problem we started with.</a:t>
            </a:r>
          </a:p>
          <a:p>
            <a:endParaRPr lang="en-IN" dirty="0"/>
          </a:p>
          <a:p>
            <a:r>
              <a:rPr lang="en-IN" dirty="0"/>
              <a:t>By offloading math to Random Forest and Ridge models, we reduced calculation hallucinations to zero percent.</a:t>
            </a:r>
          </a:p>
          <a:p>
            <a:endParaRPr lang="en-IN" dirty="0"/>
          </a:p>
          <a:p>
            <a:r>
              <a:rPr lang="en-IN" dirty="0"/>
              <a:t>Token optimization and clean ingestion significantly reduced latency and eliminated RAG retrieval failures.</a:t>
            </a:r>
          </a:p>
          <a:p>
            <a:endParaRPr lang="en-IN" dirty="0"/>
          </a:p>
          <a:p>
            <a:r>
              <a:rPr lang="en-IN" dirty="0"/>
              <a:t>This drops the manual audit time from hours to seconds, building immediate trust in the AI's output.</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14</a:t>
            </a:fld>
            <a:endParaRPr lang="en-US"/>
          </a:p>
        </p:txBody>
      </p:sp>
    </p:spTree>
    <p:extLst>
      <p:ext uri="{BB962C8B-B14F-4D97-AF65-F5344CB8AC3E}">
        <p14:creationId xmlns:p14="http://schemas.microsoft.com/office/powerpoint/2010/main" val="1894598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Let's take a brief look at the interface in action.</a:t>
            </a:r>
          </a:p>
          <a:p>
            <a:r>
              <a:rPr lang="en-IN" dirty="0"/>
              <a:t>You can see the clean workspace where users can query specific filings for major risk factors.</a:t>
            </a:r>
          </a:p>
          <a:p>
            <a:r>
              <a:rPr lang="en-IN" dirty="0"/>
              <a:t>Notice how the final output seamlessly synthesizes RAG context with a direct Altman Z-Score calculation.</a:t>
            </a:r>
          </a:p>
          <a:p>
            <a:r>
              <a:rPr lang="en-IN" dirty="0"/>
              <a:t>Behind the scenes, the copilot thinking process logs prove the autonomous routing in real-time.</a:t>
            </a:r>
          </a:p>
          <a:p>
            <a:endParaRPr lang="en-US" dirty="0"/>
          </a:p>
        </p:txBody>
      </p:sp>
      <p:sp>
        <p:nvSpPr>
          <p:cNvPr id="4" name="Slide Number Placeholder 3"/>
          <p:cNvSpPr>
            <a:spLocks noGrp="1"/>
          </p:cNvSpPr>
          <p:nvPr>
            <p:ph type="sldNum" sz="quarter" idx="5"/>
          </p:nvPr>
        </p:nvSpPr>
        <p:spPr/>
        <p:txBody>
          <a:bodyPr/>
          <a:lstStyle/>
          <a:p>
            <a:fld id="{25E8CAE0-BA58-C049-A3EB-A10918DBAE81}" type="slidenum">
              <a:rPr lang="en-US" smtClean="0"/>
              <a:t>15</a:t>
            </a:fld>
            <a:endParaRPr lang="en-US"/>
          </a:p>
        </p:txBody>
      </p:sp>
    </p:spTree>
    <p:extLst>
      <p:ext uri="{BB962C8B-B14F-4D97-AF65-F5344CB8AC3E}">
        <p14:creationId xmlns:p14="http://schemas.microsoft.com/office/powerpoint/2010/main" val="2876767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97B53-D093-9973-0448-F52CBEDA4E4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A704EE5-D9CE-6D8E-8791-829C36C0D1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D5C125F-72D1-0D8F-081D-829391D17355}"/>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5" name="Footer Placeholder 4">
            <a:extLst>
              <a:ext uri="{FF2B5EF4-FFF2-40B4-BE49-F238E27FC236}">
                <a16:creationId xmlns:a16="http://schemas.microsoft.com/office/drawing/2014/main" id="{1C113F40-0C18-55A1-B659-C2CE40E49D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E0E0CE-2F14-5CB3-ACD0-6247725E0305}"/>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1637923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BDEC-F9CB-37D1-6F2E-F4A00B782CF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D7A3DFE-F723-C0C1-AD50-6172E75AD3B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2A0720-C226-7C02-373A-9DD0EF2436BD}"/>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5" name="Footer Placeholder 4">
            <a:extLst>
              <a:ext uri="{FF2B5EF4-FFF2-40B4-BE49-F238E27FC236}">
                <a16:creationId xmlns:a16="http://schemas.microsoft.com/office/drawing/2014/main" id="{C7F5151B-2769-BF23-24F1-5AB4D55751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E20EE4-6AD8-E1C5-4228-E04666EAFC29}"/>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3446047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49320-E62B-BE4D-CAE4-E49ACAB2F27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9961FF8-46A8-89D2-9CA9-C99B9B2F4E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0C83879-AF1C-1C9F-723F-FDFDBB097B29}"/>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5" name="Footer Placeholder 4">
            <a:extLst>
              <a:ext uri="{FF2B5EF4-FFF2-40B4-BE49-F238E27FC236}">
                <a16:creationId xmlns:a16="http://schemas.microsoft.com/office/drawing/2014/main" id="{CAB3E310-20E2-672B-A1E8-AE70965F6C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AD157-58D3-8761-8FF8-66F58040CC62}"/>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2761831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F79F3-9682-CF3C-8494-BCC695EDF5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BBCE56E-3A60-6494-DC00-2B2207A2C76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C5DBDAD-06B8-0665-C80F-9544AE461D9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AF26D9F-0B2E-AF19-F875-999D928C5ED1}"/>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6" name="Footer Placeholder 5">
            <a:extLst>
              <a:ext uri="{FF2B5EF4-FFF2-40B4-BE49-F238E27FC236}">
                <a16:creationId xmlns:a16="http://schemas.microsoft.com/office/drawing/2014/main" id="{0F399462-574A-FF89-35B7-D64CA078A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4960D0-FBDF-D9E6-10B2-17DB46699BC2}"/>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377017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3B4BF-6281-936B-7738-A9E89A16657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9F1E41F-5F87-25C4-6A0F-FB7CB18082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F3F04F8-0798-BAC9-4D0D-45946D8E629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30407B0-646C-4636-C31B-B7251A3F07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0EA9E11-46F8-3D4A-3180-B8F1E397C14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79E67B1-CD94-EBC9-B996-ABB79AA2AC97}"/>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8" name="Footer Placeholder 7">
            <a:extLst>
              <a:ext uri="{FF2B5EF4-FFF2-40B4-BE49-F238E27FC236}">
                <a16:creationId xmlns:a16="http://schemas.microsoft.com/office/drawing/2014/main" id="{82AA1438-B0F3-D52A-498F-98162E51A3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EE1B10-CF7C-DB7C-B6F4-56204B09329E}"/>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784816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C384-220E-9CC9-9D1D-CDCFAE48FA4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E7AAE20-F7AE-4372-CB90-2B1EF1AAA7AF}"/>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4" name="Footer Placeholder 3">
            <a:extLst>
              <a:ext uri="{FF2B5EF4-FFF2-40B4-BE49-F238E27FC236}">
                <a16:creationId xmlns:a16="http://schemas.microsoft.com/office/drawing/2014/main" id="{4F439BAB-09D5-1770-6234-28DFB0E8A2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3F9447-93E7-4EF1-F799-2D155BC8508D}"/>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628905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8C579-24F3-0A5F-B342-C6E4AB5D6685}"/>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3" name="Footer Placeholder 2">
            <a:extLst>
              <a:ext uri="{FF2B5EF4-FFF2-40B4-BE49-F238E27FC236}">
                <a16:creationId xmlns:a16="http://schemas.microsoft.com/office/drawing/2014/main" id="{E6735183-F317-B81D-1A4B-972B6E7EF3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96E4AB-19CF-6DAE-99A5-08659CA65654}"/>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2555556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DF73E-1128-0ADF-924F-71579B667C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413DED5-861B-53C6-6969-AA7766171F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5774A18-87BD-0AEB-80A4-CB196931C5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26BD75-D6C7-4A10-AA46-587C15AE0F70}"/>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6" name="Footer Placeholder 5">
            <a:extLst>
              <a:ext uri="{FF2B5EF4-FFF2-40B4-BE49-F238E27FC236}">
                <a16:creationId xmlns:a16="http://schemas.microsoft.com/office/drawing/2014/main" id="{AA9DB2A3-4374-2503-5618-69F9E8A58B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D86C9-4BAB-8B05-49E9-776D847B4954}"/>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3107798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8FD44-2F21-D256-CC9B-023B42DB40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1DE6748-24FF-ACBC-98E7-9008AE7C32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FBE289-205F-720F-B11B-187CAA36C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673E7A-46B6-607A-530B-A04D8E28C65D}"/>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6" name="Footer Placeholder 5">
            <a:extLst>
              <a:ext uri="{FF2B5EF4-FFF2-40B4-BE49-F238E27FC236}">
                <a16:creationId xmlns:a16="http://schemas.microsoft.com/office/drawing/2014/main" id="{2183A0D1-1201-4047-843F-A888B1ED1E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CB3FB3-6312-866F-C0DF-1E382D70AFC9}"/>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2152065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5D14-F685-30FC-9315-19B261FC66D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BBDDCC6-90CD-25E6-9CBD-BA429BDBEAB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E445475-9D74-FAFA-E601-3B01BB792E04}"/>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5" name="Footer Placeholder 4">
            <a:extLst>
              <a:ext uri="{FF2B5EF4-FFF2-40B4-BE49-F238E27FC236}">
                <a16:creationId xmlns:a16="http://schemas.microsoft.com/office/drawing/2014/main" id="{41A1CB50-D97E-560B-FF35-2650C5F3D3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42A459-6AFD-CBD6-8600-DCAEF3514BC9}"/>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1671663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614AA0-DAEE-BA2D-BDDE-F0563A3C381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D78A255-EEDA-A1E9-1F53-9881B023113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948E096-54DC-57AC-6C17-F4379CE4DECA}"/>
              </a:ext>
            </a:extLst>
          </p:cNvPr>
          <p:cNvSpPr>
            <a:spLocks noGrp="1"/>
          </p:cNvSpPr>
          <p:nvPr>
            <p:ph type="dt" sz="half" idx="10"/>
          </p:nvPr>
        </p:nvSpPr>
        <p:spPr/>
        <p:txBody>
          <a:bodyPr/>
          <a:lstStyle/>
          <a:p>
            <a:fld id="{26500905-337C-8642-9941-A109CD5FB697}" type="datetimeFigureOut">
              <a:rPr lang="en-US" smtClean="0"/>
              <a:t>6/21/26</a:t>
            </a:fld>
            <a:endParaRPr lang="en-US"/>
          </a:p>
        </p:txBody>
      </p:sp>
      <p:sp>
        <p:nvSpPr>
          <p:cNvPr id="5" name="Footer Placeholder 4">
            <a:extLst>
              <a:ext uri="{FF2B5EF4-FFF2-40B4-BE49-F238E27FC236}">
                <a16:creationId xmlns:a16="http://schemas.microsoft.com/office/drawing/2014/main" id="{F7309787-8C45-66A4-25E9-FE96D25C7B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52AFAF-7EAB-6050-1B23-C32182980883}"/>
              </a:ext>
            </a:extLst>
          </p:cNvPr>
          <p:cNvSpPr>
            <a:spLocks noGrp="1"/>
          </p:cNvSpPr>
          <p:nvPr>
            <p:ph type="sldNum" sz="quarter" idx="12"/>
          </p:nvPr>
        </p:nvSpPr>
        <p:spPr/>
        <p:txBody>
          <a:bodyPr/>
          <a:lstStyle/>
          <a:p>
            <a:fld id="{F9D70B8B-EAC0-2A45-9C6F-627473B9C386}" type="slidenum">
              <a:rPr lang="en-US" smtClean="0"/>
              <a:t>‹#›</a:t>
            </a:fld>
            <a:endParaRPr lang="en-US"/>
          </a:p>
        </p:txBody>
      </p:sp>
    </p:spTree>
    <p:extLst>
      <p:ext uri="{BB962C8B-B14F-4D97-AF65-F5344CB8AC3E}">
        <p14:creationId xmlns:p14="http://schemas.microsoft.com/office/powerpoint/2010/main" val="1532960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A8D0AA-CC26-2B4A-A6B7-EC5422CFE3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4A46F2-F8BE-54B3-6936-C4F1BB5A5B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4463E4-DCE9-4A9A-4269-48072BE8CB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500905-337C-8642-9941-A109CD5FB697}" type="datetimeFigureOut">
              <a:rPr lang="en-US" smtClean="0"/>
              <a:t>6/21/26</a:t>
            </a:fld>
            <a:endParaRPr lang="en-US"/>
          </a:p>
        </p:txBody>
      </p:sp>
      <p:sp>
        <p:nvSpPr>
          <p:cNvPr id="5" name="Footer Placeholder 4">
            <a:extLst>
              <a:ext uri="{FF2B5EF4-FFF2-40B4-BE49-F238E27FC236}">
                <a16:creationId xmlns:a16="http://schemas.microsoft.com/office/drawing/2014/main" id="{CFE8C569-05CC-45E9-28DA-75D2034DA3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6F593E-79EA-C022-E864-1128B19CFA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D70B8B-EAC0-2A45-9C6F-627473B9C386}" type="slidenum">
              <a:rPr lang="en-US" smtClean="0"/>
              <a:t>‹#›</a:t>
            </a:fld>
            <a:endParaRPr lang="en-US"/>
          </a:p>
        </p:txBody>
      </p:sp>
    </p:spTree>
    <p:extLst>
      <p:ext uri="{BB962C8B-B14F-4D97-AF65-F5344CB8AC3E}">
        <p14:creationId xmlns:p14="http://schemas.microsoft.com/office/powerpoint/2010/main" val="55232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attu.sathvikgoud@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4A0B09-B76E-40B1-7DA0-402DB1FD217B}"/>
              </a:ext>
            </a:extLst>
          </p:cNvPr>
          <p:cNvSpPr>
            <a:spLocks noGrp="1"/>
          </p:cNvSpPr>
          <p:nvPr>
            <p:ph type="ctrTitle"/>
          </p:nvPr>
        </p:nvSpPr>
        <p:spPr>
          <a:xfrm>
            <a:off x="1329766" y="1146412"/>
            <a:ext cx="9014348" cy="2402006"/>
          </a:xfrm>
        </p:spPr>
        <p:txBody>
          <a:bodyPr anchor="b">
            <a:normAutofit/>
          </a:bodyPr>
          <a:lstStyle/>
          <a:p>
            <a:pPr algn="l"/>
            <a:r>
              <a:rPr lang="en-US" sz="4100" dirty="0">
                <a:latin typeface="PT Serif" pitchFamily="34" charset="0"/>
                <a:ea typeface="PT Serif" pitchFamily="34" charset="-122"/>
                <a:cs typeface="PT Serif" pitchFamily="34" charset="-120"/>
              </a:rPr>
              <a:t>FinSphereAI: Elevating Enterprise Financial Auditing with Autonomous Agents</a:t>
            </a:r>
            <a:br>
              <a:rPr lang="en-US" sz="4100" dirty="0"/>
            </a:br>
            <a:endParaRPr lang="en-US" sz="4100"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273D64A6-3096-1E9D-FAD0-06AD0E7AF58C}"/>
              </a:ext>
            </a:extLst>
          </p:cNvPr>
          <p:cNvSpPr>
            <a:spLocks noGrp="1"/>
          </p:cNvSpPr>
          <p:nvPr>
            <p:ph type="subTitle" idx="1"/>
          </p:nvPr>
        </p:nvSpPr>
        <p:spPr>
          <a:xfrm>
            <a:off x="1329765" y="4892722"/>
            <a:ext cx="6387155" cy="1078173"/>
          </a:xfrm>
        </p:spPr>
        <p:txBody>
          <a:bodyPr anchor="ctr">
            <a:normAutofit/>
          </a:bodyPr>
          <a:lstStyle/>
          <a:p>
            <a:pPr algn="l"/>
            <a:r>
              <a:rPr lang="en-US" sz="2200">
                <a:solidFill>
                  <a:srgbClr val="FFFFFF"/>
                </a:solidFill>
                <a:latin typeface="DM Sans" pitchFamily="34" charset="0"/>
                <a:ea typeface="DM Sans" pitchFamily="34" charset="-122"/>
                <a:cs typeface="DM Sans" pitchFamily="34" charset="-120"/>
              </a:rPr>
              <a:t>Bridging the gap between generative language models and deterministic machine learning</a:t>
            </a:r>
            <a:endParaRPr lang="en-US" sz="2200">
              <a:solidFill>
                <a:srgbClr val="FFFFFF"/>
              </a:solidFill>
            </a:endParaRPr>
          </a:p>
          <a:p>
            <a:pPr algn="l"/>
            <a:endParaRPr lang="en-US" sz="2200">
              <a:solidFill>
                <a:srgbClr val="FFFFFF"/>
              </a:solidFill>
            </a:endParaRPr>
          </a:p>
        </p:txBody>
      </p:sp>
      <p:sp>
        <p:nvSpPr>
          <p:cNvPr id="4" name="TextBox 3">
            <a:extLst>
              <a:ext uri="{FF2B5EF4-FFF2-40B4-BE49-F238E27FC236}">
                <a16:creationId xmlns:a16="http://schemas.microsoft.com/office/drawing/2014/main" id="{55AE57A8-11D2-C402-F4F4-9B96DAF81449}"/>
              </a:ext>
            </a:extLst>
          </p:cNvPr>
          <p:cNvSpPr txBox="1"/>
          <p:nvPr/>
        </p:nvSpPr>
        <p:spPr>
          <a:xfrm>
            <a:off x="8441636" y="5300870"/>
            <a:ext cx="3379304" cy="923330"/>
          </a:xfrm>
          <a:prstGeom prst="rect">
            <a:avLst/>
          </a:prstGeom>
          <a:noFill/>
        </p:spPr>
        <p:txBody>
          <a:bodyPr wrap="square" rtlCol="0">
            <a:spAutoFit/>
          </a:bodyPr>
          <a:lstStyle/>
          <a:p>
            <a:r>
              <a:rPr lang="en-US" dirty="0">
                <a:solidFill>
                  <a:schemeClr val="bg1"/>
                </a:solidFill>
              </a:rPr>
              <a:t>Sathvik Gattu</a:t>
            </a:r>
          </a:p>
          <a:p>
            <a:r>
              <a:rPr lang="en-US" dirty="0">
                <a:solidFill>
                  <a:schemeClr val="bg1"/>
                </a:solidFill>
                <a:hlinkClick r:id="rId3">
                  <a:extLst>
                    <a:ext uri="{A12FA001-AC4F-418D-AE19-62706E023703}">
                      <ahyp:hlinkClr xmlns:ahyp="http://schemas.microsoft.com/office/drawing/2018/hyperlinkcolor" val="tx"/>
                    </a:ext>
                  </a:extLst>
                </a:hlinkClick>
              </a:rPr>
              <a:t>gattu.sathvikgoud@gmail.com</a:t>
            </a:r>
            <a:endParaRPr lang="en-US" dirty="0">
              <a:solidFill>
                <a:schemeClr val="bg1"/>
              </a:solidFill>
            </a:endParaRPr>
          </a:p>
          <a:p>
            <a:r>
              <a:rPr lang="en-US" dirty="0">
                <a:solidFill>
                  <a:schemeClr val="bg1"/>
                </a:solidFill>
              </a:rPr>
              <a:t>+91 9959950956</a:t>
            </a:r>
          </a:p>
        </p:txBody>
      </p:sp>
    </p:spTree>
    <p:extLst>
      <p:ext uri="{BB962C8B-B14F-4D97-AF65-F5344CB8AC3E}">
        <p14:creationId xmlns:p14="http://schemas.microsoft.com/office/powerpoint/2010/main" val="2990051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0F8269-61AD-6E30-73CE-EBF7518618AC}"/>
              </a:ext>
            </a:extLst>
          </p:cNvPr>
          <p:cNvSpPr>
            <a:spLocks noGrp="1"/>
          </p:cNvSpPr>
          <p:nvPr>
            <p:ph type="title"/>
          </p:nvPr>
        </p:nvSpPr>
        <p:spPr>
          <a:xfrm>
            <a:off x="1136397" y="502021"/>
            <a:ext cx="9688296" cy="1642969"/>
          </a:xfrm>
        </p:spPr>
        <p:txBody>
          <a:bodyPr anchor="b">
            <a:normAutofit/>
          </a:bodyPr>
          <a:lstStyle/>
          <a:p>
            <a:r>
              <a:rPr lang="en-US" sz="4000" dirty="0">
                <a:latin typeface="PT Serif" pitchFamily="34" charset="0"/>
                <a:ea typeface="PT Serif" pitchFamily="34" charset="-122"/>
                <a:cs typeface="PT Serif" pitchFamily="34" charset="-120"/>
              </a:rPr>
              <a:t>Problem Statement</a:t>
            </a:r>
            <a:br>
              <a:rPr lang="en-US" sz="4000" dirty="0"/>
            </a:br>
            <a:endParaRPr lang="en-US" sz="4000" dirty="0"/>
          </a:p>
        </p:txBody>
      </p:sp>
      <p:sp>
        <p:nvSpPr>
          <p:cNvPr id="3" name="Content Placeholder 2">
            <a:extLst>
              <a:ext uri="{FF2B5EF4-FFF2-40B4-BE49-F238E27FC236}">
                <a16:creationId xmlns:a16="http://schemas.microsoft.com/office/drawing/2014/main" id="{B641DCA6-A4D7-F704-A9D0-D18CB9AC02D0}"/>
              </a:ext>
            </a:extLst>
          </p:cNvPr>
          <p:cNvSpPr>
            <a:spLocks noGrp="1"/>
          </p:cNvSpPr>
          <p:nvPr>
            <p:ph idx="1"/>
          </p:nvPr>
        </p:nvSpPr>
        <p:spPr>
          <a:xfrm>
            <a:off x="1136397" y="2418409"/>
            <a:ext cx="9688296" cy="3454358"/>
          </a:xfrm>
        </p:spPr>
        <p:txBody>
          <a:bodyPr anchor="t">
            <a:normAutofit/>
          </a:bodyPr>
          <a:lstStyle/>
          <a:p>
            <a:pPr marL="0" indent="0">
              <a:buNone/>
            </a:pPr>
            <a:r>
              <a:rPr lang="en-US" sz="2000" b="1" dirty="0">
                <a:latin typeface="DM Sans" pitchFamily="2" charset="77"/>
                <a:ea typeface="PT Serif" pitchFamily="34" charset="-122"/>
                <a:cs typeface="PT Serif" pitchFamily="34" charset="-120"/>
              </a:rPr>
              <a:t>The Manual Bottleneck - </a:t>
            </a:r>
            <a:r>
              <a:rPr lang="en-US" sz="2000" dirty="0">
                <a:latin typeface="DM Sans" pitchFamily="2" charset="77"/>
                <a:ea typeface="DM Sans" pitchFamily="34" charset="-122"/>
                <a:cs typeface="DM Sans" pitchFamily="34" charset="-120"/>
              </a:rPr>
              <a:t>Financial auditing is currently a slow, human-intensive process, susceptible to oversight and calculations mismatch.</a:t>
            </a:r>
            <a:endParaRPr lang="en-US" sz="2000" dirty="0">
              <a:latin typeface="DM Sans" pitchFamily="2" charset="77"/>
            </a:endParaRPr>
          </a:p>
          <a:p>
            <a:pPr marL="0" indent="0">
              <a:buNone/>
            </a:pPr>
            <a:r>
              <a:rPr lang="en-US" sz="2000" b="1" dirty="0">
                <a:latin typeface="DM Sans" pitchFamily="2" charset="77"/>
                <a:ea typeface="PT Serif" pitchFamily="34" charset="-122"/>
                <a:cs typeface="PT Serif" pitchFamily="34" charset="-120"/>
              </a:rPr>
              <a:t>The Hallucination Loophole - </a:t>
            </a:r>
            <a:r>
              <a:rPr lang="en-US" sz="2000" dirty="0">
                <a:latin typeface="DM Sans" pitchFamily="2" charset="77"/>
                <a:ea typeface="DM Sans" pitchFamily="34" charset="-122"/>
                <a:cs typeface="DM Sans" pitchFamily="34" charset="-120"/>
              </a:rPr>
              <a:t>Standard Generative AI (LLMs) cannot be trusted with raw financial calculations. They frequently hallucinate numbers, miscalculate solvency ratios, and struggle to process unstructured PDF balance sheets.</a:t>
            </a:r>
            <a:endParaRPr lang="en-US" sz="2000" dirty="0">
              <a:latin typeface="DM Sans" pitchFamily="2" charset="77"/>
            </a:endParaRPr>
          </a:p>
          <a:p>
            <a:pPr marL="0" indent="0">
              <a:buNone/>
            </a:pPr>
            <a:r>
              <a:rPr lang="en-US" sz="2000" b="1" dirty="0">
                <a:latin typeface="DM Sans" pitchFamily="2" charset="77"/>
                <a:ea typeface="PT Serif" pitchFamily="34" charset="-122"/>
                <a:cs typeface="PT Serif" pitchFamily="34" charset="-120"/>
              </a:rPr>
              <a:t>Disconnected Systems - </a:t>
            </a:r>
            <a:r>
              <a:rPr lang="en-US" sz="2000" dirty="0">
                <a:latin typeface="DM Sans" pitchFamily="2" charset="77"/>
                <a:ea typeface="DM Sans" pitchFamily="34" charset="-122"/>
                <a:cs typeface="DM Sans" pitchFamily="34" charset="-120"/>
              </a:rPr>
              <a:t>Traditional corporate systems separate text-based search (filings documents) from predictive model engines (bankruptcy forecasting, anomaly scanners), forcing human auditors to manually copy-paste metrics between interfaces.</a:t>
            </a:r>
            <a:endParaRPr lang="en-US" sz="2000" dirty="0">
              <a:latin typeface="DM Sans" pitchFamily="2" charset="77"/>
            </a:endParaRPr>
          </a:p>
          <a:p>
            <a:pPr marL="0" indent="0">
              <a:buNone/>
            </a:pPr>
            <a:endParaRPr lang="en-US" sz="1700" dirty="0"/>
          </a:p>
          <a:p>
            <a:pPr marL="0" indent="0">
              <a:buNone/>
            </a:pPr>
            <a:endParaRPr lang="en-US" sz="1700" dirty="0"/>
          </a:p>
          <a:p>
            <a:pPr marL="0" indent="0">
              <a:buNone/>
            </a:pPr>
            <a:endParaRPr lang="en-US" sz="1700" dirty="0"/>
          </a:p>
          <a:p>
            <a:pPr marL="0" indent="0">
              <a:buNone/>
            </a:pPr>
            <a:endParaRPr lang="en-US" sz="170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8883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712F85-D9FE-57A9-61CC-548D781181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C9B823-26BD-BC45-0325-9EDA6F48EC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FE79B9-B692-BB5E-F122-4F9F3F4AADD4}"/>
              </a:ext>
            </a:extLst>
          </p:cNvPr>
          <p:cNvSpPr>
            <a:spLocks noGrp="1"/>
          </p:cNvSpPr>
          <p:nvPr>
            <p:ph type="title"/>
          </p:nvPr>
        </p:nvSpPr>
        <p:spPr>
          <a:xfrm>
            <a:off x="1136397" y="502021"/>
            <a:ext cx="9688296" cy="1642969"/>
          </a:xfrm>
        </p:spPr>
        <p:txBody>
          <a:bodyPr anchor="b">
            <a:normAutofit/>
          </a:bodyPr>
          <a:lstStyle/>
          <a:p>
            <a:r>
              <a:rPr lang="en-US" sz="4000" dirty="0">
                <a:latin typeface="PT Serif" pitchFamily="34" charset="0"/>
                <a:ea typeface="PT Serif" pitchFamily="34" charset="-122"/>
                <a:cs typeface="PT Serif" pitchFamily="34" charset="-120"/>
              </a:rPr>
              <a:t>Features </a:t>
            </a:r>
            <a:br>
              <a:rPr lang="en-US" sz="4000" dirty="0"/>
            </a:br>
            <a:endParaRPr lang="en-US" sz="4000" dirty="0"/>
          </a:p>
        </p:txBody>
      </p:sp>
      <p:sp>
        <p:nvSpPr>
          <p:cNvPr id="3" name="Content Placeholder 2">
            <a:extLst>
              <a:ext uri="{FF2B5EF4-FFF2-40B4-BE49-F238E27FC236}">
                <a16:creationId xmlns:a16="http://schemas.microsoft.com/office/drawing/2014/main" id="{E0A11D11-6821-17AF-2D89-0F7E943168CC}"/>
              </a:ext>
            </a:extLst>
          </p:cNvPr>
          <p:cNvSpPr>
            <a:spLocks noGrp="1"/>
          </p:cNvSpPr>
          <p:nvPr>
            <p:ph idx="1"/>
          </p:nvPr>
        </p:nvSpPr>
        <p:spPr>
          <a:xfrm>
            <a:off x="1136397" y="2418409"/>
            <a:ext cx="9688296" cy="3454358"/>
          </a:xfrm>
        </p:spPr>
        <p:txBody>
          <a:bodyPr anchor="t">
            <a:normAutofit/>
          </a:bodyPr>
          <a:lstStyle/>
          <a:p>
            <a:r>
              <a:rPr lang="en-IN" sz="2000" b="1" dirty="0">
                <a:latin typeface="DM Sans" pitchFamily="2" charset="77"/>
                <a:cs typeface="Sanskrit Text" panose="02020503050405020304" pitchFamily="18" charset="0"/>
              </a:rPr>
              <a:t>Unified Interface:</a:t>
            </a:r>
            <a:r>
              <a:rPr lang="en-IN" sz="2000" dirty="0">
                <a:latin typeface="DM Sans" pitchFamily="2" charset="77"/>
                <a:cs typeface="Sanskrit Text" panose="02020503050405020304" pitchFamily="18" charset="0"/>
              </a:rPr>
              <a:t> A centralized workspace replacing fragmented legacy tools, allowing auditors to fetch SEC filings and trigger analysis in one screen.</a:t>
            </a:r>
          </a:p>
          <a:p>
            <a:r>
              <a:rPr lang="en-IN" sz="2000" b="1" dirty="0">
                <a:latin typeface="DM Sans" pitchFamily="2" charset="77"/>
                <a:cs typeface="Sanskrit Text" panose="02020503050405020304" pitchFamily="18" charset="0"/>
              </a:rPr>
              <a:t>Document Library Management:</a:t>
            </a:r>
            <a:r>
              <a:rPr lang="en-IN" sz="2000" dirty="0">
                <a:latin typeface="DM Sans" pitchFamily="2" charset="77"/>
                <a:cs typeface="Sanskrit Text" panose="02020503050405020304" pitchFamily="18" charset="0"/>
              </a:rPr>
              <a:t> Secure, session-isolated storage for raw financial PDFs (10-Ks, 10-Qs).</a:t>
            </a:r>
          </a:p>
          <a:p>
            <a:r>
              <a:rPr lang="en-IN" sz="2000" b="1" dirty="0">
                <a:latin typeface="DM Sans" pitchFamily="2" charset="77"/>
                <a:cs typeface="Sanskrit Text" panose="02020503050405020304" pitchFamily="18" charset="0"/>
              </a:rPr>
              <a:t>Real-Time Context Injection:</a:t>
            </a:r>
            <a:r>
              <a:rPr lang="en-IN" sz="2000" dirty="0">
                <a:latin typeface="DM Sans" pitchFamily="2" charset="77"/>
                <a:cs typeface="Sanskrit Text" panose="02020503050405020304" pitchFamily="18" charset="0"/>
              </a:rPr>
              <a:t> Chat interface dynamically references the specific documents the user has actively selected in the workspace.</a:t>
            </a:r>
          </a:p>
          <a:p>
            <a:pPr marL="0" indent="0">
              <a:buNone/>
            </a:pPr>
            <a:endParaRPr lang="en-US" sz="1700" dirty="0"/>
          </a:p>
        </p:txBody>
      </p:sp>
      <p:sp>
        <p:nvSpPr>
          <p:cNvPr id="10" name="Rectangle 9">
            <a:extLst>
              <a:ext uri="{FF2B5EF4-FFF2-40B4-BE49-F238E27FC236}">
                <a16:creationId xmlns:a16="http://schemas.microsoft.com/office/drawing/2014/main" id="{C376F064-FB72-3723-350C-D738133A0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9989250-EE82-2AAA-6C9D-F93AD5F4B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418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2C27FA-B9A0-5CE4-EA36-A872175AC7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E8BA589-D007-08DF-07D4-DB9B6ABF48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82F955-521B-17C6-6AE1-6CC5070A6510}"/>
              </a:ext>
            </a:extLst>
          </p:cNvPr>
          <p:cNvSpPr>
            <a:spLocks noGrp="1"/>
          </p:cNvSpPr>
          <p:nvPr>
            <p:ph type="title"/>
          </p:nvPr>
        </p:nvSpPr>
        <p:spPr>
          <a:xfrm>
            <a:off x="1136397" y="502021"/>
            <a:ext cx="9688296" cy="1642969"/>
          </a:xfrm>
        </p:spPr>
        <p:txBody>
          <a:bodyPr anchor="b">
            <a:normAutofit/>
          </a:bodyPr>
          <a:lstStyle/>
          <a:p>
            <a:r>
              <a:rPr lang="en-IN" dirty="0">
                <a:latin typeface="PT Serif" panose="020A0603040505020204" pitchFamily="18" charset="77"/>
              </a:rPr>
              <a:t>Advanced Deterministic Solvers</a:t>
            </a:r>
            <a:br>
              <a:rPr lang="en-US" sz="4000" dirty="0"/>
            </a:br>
            <a:endParaRPr lang="en-US" sz="4000" dirty="0"/>
          </a:p>
        </p:txBody>
      </p:sp>
      <p:sp>
        <p:nvSpPr>
          <p:cNvPr id="3" name="Content Placeholder 2">
            <a:extLst>
              <a:ext uri="{FF2B5EF4-FFF2-40B4-BE49-F238E27FC236}">
                <a16:creationId xmlns:a16="http://schemas.microsoft.com/office/drawing/2014/main" id="{FB343236-400B-BEC7-2C04-426EEE7C4B42}"/>
              </a:ext>
            </a:extLst>
          </p:cNvPr>
          <p:cNvSpPr>
            <a:spLocks noGrp="1"/>
          </p:cNvSpPr>
          <p:nvPr>
            <p:ph idx="1"/>
          </p:nvPr>
        </p:nvSpPr>
        <p:spPr>
          <a:xfrm>
            <a:off x="1136397" y="2418409"/>
            <a:ext cx="9688296" cy="3454358"/>
          </a:xfrm>
        </p:spPr>
        <p:txBody>
          <a:bodyPr anchor="t">
            <a:normAutofit/>
          </a:bodyPr>
          <a:lstStyle/>
          <a:p>
            <a:r>
              <a:rPr lang="en-IN" sz="2000" b="1" dirty="0">
                <a:latin typeface="DM Sans" pitchFamily="2" charset="77"/>
              </a:rPr>
              <a:t>Solvency Engine:</a:t>
            </a:r>
            <a:r>
              <a:rPr lang="en-IN" sz="2000" dirty="0">
                <a:latin typeface="DM Sans" pitchFamily="2" charset="77"/>
              </a:rPr>
              <a:t> Executes the Altman Z-Score local model for instant, statistically sound bankruptcy risk scoring</a:t>
            </a:r>
          </a:p>
          <a:p>
            <a:r>
              <a:rPr lang="en-IN" sz="2000" b="1" dirty="0">
                <a:latin typeface="DM Sans" pitchFamily="2" charset="77"/>
              </a:rPr>
              <a:t>Revenue Forecasting:</a:t>
            </a:r>
            <a:r>
              <a:rPr lang="en-IN" sz="2000" dirty="0">
                <a:latin typeface="DM Sans" pitchFamily="2" charset="77"/>
              </a:rPr>
              <a:t> Utilizes Ridge Regression algorithms for time-series projection of growth trajectories.</a:t>
            </a:r>
          </a:p>
          <a:p>
            <a:r>
              <a:rPr lang="en-IN" sz="2000" b="1" dirty="0">
                <a:latin typeface="DM Sans" pitchFamily="2" charset="77"/>
              </a:rPr>
              <a:t>Anomaly Scanner:</a:t>
            </a:r>
            <a:r>
              <a:rPr lang="en-IN" sz="2000" dirty="0">
                <a:latin typeface="DM Sans" pitchFamily="2" charset="77"/>
              </a:rPr>
              <a:t> Deploys Isolation Forest models to detect mathematical outliers and inconsistencies in corporate reporting.</a:t>
            </a:r>
          </a:p>
          <a:p>
            <a:pPr marL="0" indent="0">
              <a:buNone/>
            </a:pPr>
            <a:endParaRPr lang="en-US" sz="1700" dirty="0"/>
          </a:p>
        </p:txBody>
      </p:sp>
      <p:sp>
        <p:nvSpPr>
          <p:cNvPr id="10" name="Rectangle 9">
            <a:extLst>
              <a:ext uri="{FF2B5EF4-FFF2-40B4-BE49-F238E27FC236}">
                <a16:creationId xmlns:a16="http://schemas.microsoft.com/office/drawing/2014/main" id="{7378CFFC-4237-5CE6-E38A-5BBD94FCE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BD865A-460C-71CB-F45A-526F01A8E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307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7E3CB4-C9CB-AD32-23EF-E0F800C77C32}"/>
              </a:ext>
            </a:extLst>
          </p:cNvPr>
          <p:cNvSpPr>
            <a:spLocks noGrp="1"/>
          </p:cNvSpPr>
          <p:nvPr>
            <p:ph type="title"/>
          </p:nvPr>
        </p:nvSpPr>
        <p:spPr>
          <a:xfrm>
            <a:off x="656823" y="962166"/>
            <a:ext cx="3103808" cy="4421876"/>
          </a:xfrm>
        </p:spPr>
        <p:txBody>
          <a:bodyPr anchor="t">
            <a:normAutofit/>
          </a:bodyPr>
          <a:lstStyle/>
          <a:p>
            <a:pPr algn="r"/>
            <a:r>
              <a:rPr lang="en-US" sz="4000" dirty="0">
                <a:latin typeface="PT Serif" pitchFamily="34" charset="0"/>
                <a:ea typeface="PT Serif" pitchFamily="34" charset="-122"/>
                <a:cs typeface="PT Serif" pitchFamily="34" charset="-120"/>
              </a:rPr>
              <a:t>Introducing the FinSphereAI ReAct Chatbot Agent</a:t>
            </a:r>
            <a:br>
              <a:rPr lang="en-US" sz="4000" dirty="0"/>
            </a:br>
            <a:endParaRPr lang="en-US" sz="4000" dirty="0"/>
          </a:p>
        </p:txBody>
      </p:sp>
      <p:sp>
        <p:nvSpPr>
          <p:cNvPr id="3" name="Content Placeholder 2">
            <a:extLst>
              <a:ext uri="{FF2B5EF4-FFF2-40B4-BE49-F238E27FC236}">
                <a16:creationId xmlns:a16="http://schemas.microsoft.com/office/drawing/2014/main" id="{B80B0472-F79A-4BF9-1511-B6320045E92B}"/>
              </a:ext>
            </a:extLst>
          </p:cNvPr>
          <p:cNvSpPr>
            <a:spLocks noGrp="1"/>
          </p:cNvSpPr>
          <p:nvPr>
            <p:ph idx="1"/>
          </p:nvPr>
        </p:nvSpPr>
        <p:spPr>
          <a:xfrm>
            <a:off x="4088929" y="962167"/>
            <a:ext cx="6858113" cy="4743174"/>
          </a:xfrm>
        </p:spPr>
        <p:txBody>
          <a:bodyPr anchor="t">
            <a:normAutofit/>
          </a:bodyPr>
          <a:lstStyle/>
          <a:p>
            <a:pPr marL="0" indent="0">
              <a:buNone/>
            </a:pPr>
            <a:r>
              <a:rPr lang="en-US" sz="2000" b="1" dirty="0">
                <a:latin typeface="PT Serif" pitchFamily="34" charset="0"/>
                <a:ea typeface="PT Serif" pitchFamily="34" charset="-122"/>
                <a:cs typeface="PT Serif" pitchFamily="34" charset="-120"/>
              </a:rPr>
              <a:t>ReAct (Reasoning and Action) Loop</a:t>
            </a:r>
            <a:endParaRPr lang="en-US" sz="2000" dirty="0"/>
          </a:p>
          <a:p>
            <a:pPr marL="0" indent="0">
              <a:buNone/>
            </a:pPr>
            <a:r>
              <a:rPr lang="en-US" sz="2000" dirty="0">
                <a:latin typeface="DM Sans" pitchFamily="34" charset="0"/>
                <a:ea typeface="DM Sans" pitchFamily="34" charset="-122"/>
                <a:cs typeface="DM Sans" pitchFamily="34" charset="-120"/>
              </a:rPr>
              <a:t>The chatbot utilizes the </a:t>
            </a:r>
            <a:r>
              <a:rPr lang="en-US" sz="2000" b="1" dirty="0">
                <a:latin typeface="DM Sans" pitchFamily="34" charset="0"/>
                <a:ea typeface="DM Sans" pitchFamily="34" charset="-122"/>
                <a:cs typeface="DM Sans" pitchFamily="34" charset="-120"/>
              </a:rPr>
              <a:t>ReAct framework</a:t>
            </a:r>
            <a:r>
              <a:rPr lang="en-US" sz="2000" dirty="0">
                <a:latin typeface="DM Sans" pitchFamily="34" charset="0"/>
                <a:ea typeface="DM Sans" pitchFamily="34" charset="-122"/>
                <a:cs typeface="DM Sans" pitchFamily="34" charset="-120"/>
              </a:rPr>
              <a:t> to perform step-by-step reasoning. Instead of generating a single output directly, the agent executes an iterative loop:</a:t>
            </a:r>
            <a:endParaRPr lang="en-US" sz="2000" dirty="0"/>
          </a:p>
          <a:p>
            <a:pPr marL="342900" indent="-342900">
              <a:buSzPct val="100000"/>
            </a:pPr>
            <a:r>
              <a:rPr lang="en-US" sz="2000" b="1" dirty="0">
                <a:latin typeface="DM Sans" pitchFamily="34" charset="0"/>
                <a:ea typeface="DM Sans" pitchFamily="34" charset="-122"/>
                <a:cs typeface="DM Sans" pitchFamily="34" charset="-120"/>
              </a:rPr>
              <a:t>Thought</a:t>
            </a:r>
            <a:r>
              <a:rPr lang="en-US" sz="2000" dirty="0">
                <a:latin typeface="DM Sans" pitchFamily="34" charset="0"/>
                <a:ea typeface="DM Sans" pitchFamily="34" charset="-122"/>
                <a:cs typeface="DM Sans" pitchFamily="34" charset="-120"/>
              </a:rPr>
              <a:t>: Evaluates what financial data or calculation is required to answer the query.</a:t>
            </a:r>
            <a:endParaRPr lang="en-US" sz="2000" dirty="0"/>
          </a:p>
          <a:p>
            <a:pPr marL="342900" indent="-342900">
              <a:buSzPct val="100000"/>
            </a:pPr>
            <a:r>
              <a:rPr lang="en-US" sz="2000" b="1" dirty="0">
                <a:latin typeface="DM Sans" pitchFamily="34" charset="0"/>
                <a:ea typeface="DM Sans" pitchFamily="34" charset="-122"/>
                <a:cs typeface="DM Sans" pitchFamily="34" charset="-120"/>
              </a:rPr>
              <a:t>Action</a:t>
            </a:r>
            <a:r>
              <a:rPr lang="en-US" sz="2000" dirty="0">
                <a:latin typeface="DM Sans" pitchFamily="34" charset="0"/>
                <a:ea typeface="DM Sans" pitchFamily="34" charset="-122"/>
                <a:cs typeface="DM Sans" pitchFamily="34" charset="-120"/>
              </a:rPr>
              <a:t>: Selects and runs the appropriate tool (e.g. vector search, ratio calculation, anomaly check).</a:t>
            </a:r>
            <a:endParaRPr lang="en-US" sz="2000" dirty="0"/>
          </a:p>
          <a:p>
            <a:pPr marL="342900" indent="-342900">
              <a:buSzPct val="100000"/>
            </a:pPr>
            <a:r>
              <a:rPr lang="en-US" sz="2000" b="1" dirty="0">
                <a:latin typeface="DM Sans" pitchFamily="34" charset="0"/>
                <a:ea typeface="DM Sans" pitchFamily="34" charset="-122"/>
                <a:cs typeface="DM Sans" pitchFamily="34" charset="-120"/>
              </a:rPr>
              <a:t>Observation</a:t>
            </a:r>
            <a:r>
              <a:rPr lang="en-US" sz="2000" dirty="0">
                <a:latin typeface="DM Sans" pitchFamily="34" charset="0"/>
                <a:ea typeface="DM Sans" pitchFamily="34" charset="-122"/>
                <a:cs typeface="DM Sans" pitchFamily="34" charset="-120"/>
              </a:rPr>
              <a:t>: Inspects the tool's quantitative output to determine if more data is needed.</a:t>
            </a:r>
            <a:endParaRPr lang="en-US" sz="2000" dirty="0"/>
          </a:p>
          <a:p>
            <a:pPr marL="0" indent="0">
              <a:buNone/>
            </a:pPr>
            <a:endParaRPr lang="en-US" sz="200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3541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F46CA7F-9FED-0B6E-438F-3B76CE759F41}"/>
              </a:ext>
            </a:extLst>
          </p:cNvPr>
          <p:cNvSpPr txBox="1"/>
          <p:nvPr/>
        </p:nvSpPr>
        <p:spPr>
          <a:xfrm>
            <a:off x="656823" y="962166"/>
            <a:ext cx="3103808" cy="4421876"/>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en-US" sz="4000" kern="1200" dirty="0">
                <a:solidFill>
                  <a:schemeClr val="tx1"/>
                </a:solidFill>
                <a:latin typeface="PT Serif" panose="020A0603040505020204" pitchFamily="18" charset="77"/>
                <a:ea typeface="+mj-ea"/>
                <a:cs typeface="+mj-cs"/>
              </a:rPr>
              <a:t>Introducing the FinSphereAI ReAct Chatbot Agent</a:t>
            </a:r>
            <a:br>
              <a:rPr lang="en-US" sz="4000" kern="1200" dirty="0">
                <a:solidFill>
                  <a:schemeClr val="tx1"/>
                </a:solidFill>
                <a:latin typeface="+mj-lt"/>
                <a:ea typeface="+mj-ea"/>
                <a:cs typeface="+mj-cs"/>
              </a:rPr>
            </a:b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E957C1E7-238F-99F7-6C9D-D47AEDA26DB3}"/>
              </a:ext>
            </a:extLst>
          </p:cNvPr>
          <p:cNvSpPr>
            <a:spLocks noGrp="1"/>
          </p:cNvSpPr>
          <p:nvPr>
            <p:ph idx="1"/>
          </p:nvPr>
        </p:nvSpPr>
        <p:spPr>
          <a:xfrm>
            <a:off x="4088929" y="962167"/>
            <a:ext cx="6858113" cy="4743174"/>
          </a:xfrm>
        </p:spPr>
        <p:txBody>
          <a:bodyPr vert="horz" lIns="91440" tIns="45720" rIns="91440" bIns="45720" rtlCol="0" anchor="t">
            <a:normAutofit/>
          </a:bodyPr>
          <a:lstStyle/>
          <a:p>
            <a:pPr marL="0" indent="0">
              <a:buNone/>
            </a:pPr>
            <a:r>
              <a:rPr lang="en-US" sz="2000" b="1" dirty="0"/>
              <a:t>Hybrid Architecture</a:t>
            </a:r>
          </a:p>
          <a:p>
            <a:pPr marL="342900">
              <a:buSzPct val="100000"/>
            </a:pPr>
            <a:r>
              <a:rPr lang="en-US" sz="2000" b="1" dirty="0"/>
              <a:t>Conversational Reasoning Core</a:t>
            </a:r>
            <a:r>
              <a:rPr lang="en-US" sz="2000" dirty="0"/>
              <a:t>: LangChain-orchestrated agent binding user session context and multi-turn chat memory.</a:t>
            </a:r>
          </a:p>
          <a:p>
            <a:pPr marL="342900">
              <a:buSzPct val="100000"/>
            </a:pPr>
            <a:r>
              <a:rPr lang="en-US" sz="2000" b="1" dirty="0"/>
              <a:t>Deterministic Predictive Solvers</a:t>
            </a:r>
            <a:r>
              <a:rPr lang="en-US" sz="2000" dirty="0"/>
              <a:t>: Local model tools (Random Forest, Isolation Forest, Ridge Regression) executing mathematical solvers behind the scenes to guarantee 100% calculation accuracy.</a:t>
            </a:r>
          </a:p>
          <a:p>
            <a:pPr marL="0"/>
            <a:endParaRPr lang="en-US" sz="2000" dirty="0"/>
          </a:p>
        </p:txBody>
      </p:sp>
      <p:sp>
        <p:nvSpPr>
          <p:cNvPr id="14" name="Rectangle 1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502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A71B2FA-89AA-DF2D-B913-898C7B198C22}"/>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1700" kern="1200" dirty="0">
                <a:solidFill>
                  <a:schemeClr val="tx1"/>
                </a:solidFill>
                <a:latin typeface="+mj-lt"/>
                <a:ea typeface="+mj-ea"/>
                <a:cs typeface="+mj-cs"/>
              </a:rPr>
              <a:t>System Architecture Flowchart</a:t>
            </a:r>
            <a:br>
              <a:rPr lang="en-US" sz="1700" kern="1200" dirty="0">
                <a:solidFill>
                  <a:schemeClr val="tx1"/>
                </a:solidFill>
                <a:latin typeface="+mj-lt"/>
                <a:ea typeface="+mj-ea"/>
                <a:cs typeface="+mj-cs"/>
              </a:rPr>
            </a:br>
            <a:r>
              <a:rPr lang="en-US" sz="1700" kern="1200" dirty="0">
                <a:solidFill>
                  <a:schemeClr val="tx1"/>
                </a:solidFill>
                <a:latin typeface="+mj-lt"/>
                <a:ea typeface="+mj-ea"/>
                <a:cs typeface="+mj-cs"/>
              </a:rPr>
              <a:t>How Information and Decisions Flow Through the Agent</a:t>
            </a:r>
            <a:br>
              <a:rPr lang="en-US" sz="1700" kern="1200" dirty="0">
                <a:solidFill>
                  <a:schemeClr val="tx1"/>
                </a:solidFill>
                <a:latin typeface="+mj-lt"/>
                <a:ea typeface="+mj-ea"/>
                <a:cs typeface="+mj-cs"/>
              </a:rPr>
            </a:br>
            <a:endParaRPr lang="en-US" sz="1700" kern="1200" dirty="0">
              <a:solidFill>
                <a:schemeClr val="tx1"/>
              </a:solidFill>
              <a:latin typeface="+mj-lt"/>
              <a:ea typeface="+mj-ea"/>
              <a:cs typeface="+mj-cs"/>
            </a:endParaRPr>
          </a:p>
        </p:txBody>
      </p:sp>
      <p:pic>
        <p:nvPicPr>
          <p:cNvPr id="5" name="Content Placeholder 4">
            <a:extLst>
              <a:ext uri="{FF2B5EF4-FFF2-40B4-BE49-F238E27FC236}">
                <a16:creationId xmlns:a16="http://schemas.microsoft.com/office/drawing/2014/main" id="{E4D9E68E-8457-0134-C5D5-BFD639831C4A}"/>
              </a:ext>
            </a:extLst>
          </p:cNvPr>
          <p:cNvPicPr>
            <a:picLocks noGrp="1" noChangeAspect="1"/>
          </p:cNvPicPr>
          <p:nvPr>
            <p:ph idx="1"/>
          </p:nvPr>
        </p:nvPicPr>
        <p:blipFill>
          <a:blip r:embed="rId3"/>
          <a:stretch>
            <a:fillRect/>
          </a:stretch>
        </p:blipFill>
        <p:spPr>
          <a:xfrm>
            <a:off x="920522" y="2709746"/>
            <a:ext cx="10350955" cy="2863740"/>
          </a:xfrm>
          <a:prstGeom prst="rect">
            <a:avLst/>
          </a:prstGeom>
        </p:spPr>
      </p:pic>
    </p:spTree>
    <p:extLst>
      <p:ext uri="{BB962C8B-B14F-4D97-AF65-F5344CB8AC3E}">
        <p14:creationId xmlns:p14="http://schemas.microsoft.com/office/powerpoint/2010/main" val="3065434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5A2E30-D0A3-1B03-E4CD-224E93AA6553}"/>
              </a:ext>
            </a:extLst>
          </p:cNvPr>
          <p:cNvSpPr>
            <a:spLocks noGrp="1"/>
          </p:cNvSpPr>
          <p:nvPr>
            <p:ph type="title"/>
          </p:nvPr>
        </p:nvSpPr>
        <p:spPr>
          <a:xfrm>
            <a:off x="742857" y="270071"/>
            <a:ext cx="9688296" cy="1642969"/>
          </a:xfrm>
        </p:spPr>
        <p:txBody>
          <a:bodyPr anchor="b">
            <a:normAutofit/>
          </a:bodyPr>
          <a:lstStyle/>
          <a:p>
            <a:r>
              <a:rPr lang="en-IN" dirty="0">
                <a:latin typeface="PT Serif" panose="020A0603040505020204" pitchFamily="18" charset="77"/>
              </a:rPr>
              <a:t>Agent Orchestration &amp; Memory Mechanics</a:t>
            </a:r>
            <a:endParaRPr lang="en-US" sz="3100" dirty="0">
              <a:latin typeface="PT Serif" panose="020A0603040505020204" pitchFamily="18" charset="77"/>
            </a:endParaRPr>
          </a:p>
        </p:txBody>
      </p:sp>
      <p:sp>
        <p:nvSpPr>
          <p:cNvPr id="3" name="Content Placeholder 2">
            <a:extLst>
              <a:ext uri="{FF2B5EF4-FFF2-40B4-BE49-F238E27FC236}">
                <a16:creationId xmlns:a16="http://schemas.microsoft.com/office/drawing/2014/main" id="{BE976168-8020-F0AE-21A4-CAA2DA67D574}"/>
              </a:ext>
            </a:extLst>
          </p:cNvPr>
          <p:cNvSpPr>
            <a:spLocks noGrp="1"/>
          </p:cNvSpPr>
          <p:nvPr>
            <p:ph idx="1"/>
          </p:nvPr>
        </p:nvSpPr>
        <p:spPr>
          <a:xfrm>
            <a:off x="559657" y="2192061"/>
            <a:ext cx="10299760" cy="3959300"/>
          </a:xfrm>
        </p:spPr>
        <p:txBody>
          <a:bodyPr anchor="t">
            <a:normAutofit/>
          </a:bodyPr>
          <a:lstStyle/>
          <a:p>
            <a:r>
              <a:rPr lang="en-IN" sz="2000" b="1" dirty="0">
                <a:latin typeface="DM Sans" pitchFamily="2" charset="77"/>
              </a:rPr>
              <a:t>Agent Executor Framework:</a:t>
            </a:r>
            <a:r>
              <a:rPr lang="en-IN" sz="2000" dirty="0">
                <a:latin typeface="DM Sans" pitchFamily="2" charset="77"/>
              </a:rPr>
              <a:t> Handles the Thought -&gt; Action -&gt; Observation loop, specifically managing tool-calling retry logic if an execution fails.</a:t>
            </a:r>
          </a:p>
          <a:p>
            <a:r>
              <a:rPr lang="en-IN" sz="2000" b="1" dirty="0">
                <a:latin typeface="DM Sans" pitchFamily="2" charset="77"/>
              </a:rPr>
              <a:t>Strict Tool Binding:</a:t>
            </a:r>
            <a:r>
              <a:rPr lang="en-IN" sz="2000" dirty="0">
                <a:latin typeface="DM Sans" pitchFamily="2" charset="77"/>
              </a:rPr>
              <a:t> Utilizes </a:t>
            </a:r>
            <a:r>
              <a:rPr lang="en-IN" sz="2000" dirty="0" err="1">
                <a:latin typeface="DM Sans" pitchFamily="2" charset="77"/>
              </a:rPr>
              <a:t>Pydantic</a:t>
            </a:r>
            <a:r>
              <a:rPr lang="en-IN" sz="2000" dirty="0">
                <a:latin typeface="DM Sans" pitchFamily="2" charset="77"/>
              </a:rPr>
              <a:t> schemas to tightly bind LLM instructions to Python execution functions, ensuring the LLM passes the exact correct parameters (e.g., total_assets, total_liabilities) to the solver tools.</a:t>
            </a:r>
          </a:p>
          <a:p>
            <a:r>
              <a:rPr lang="en-IN" sz="2000" b="1" dirty="0">
                <a:latin typeface="DM Sans" pitchFamily="2" charset="77"/>
              </a:rPr>
              <a:t>Dynamic Memory Buffer:</a:t>
            </a:r>
            <a:r>
              <a:rPr lang="en-IN" sz="2000" dirty="0">
                <a:latin typeface="DM Sans" pitchFamily="2" charset="77"/>
              </a:rPr>
              <a:t> Implements ConversationSummaryBufferMemory to prune older, irrelevant chat tokens while preserving essential financial context across multi-turn interactions.</a:t>
            </a:r>
          </a:p>
          <a:p>
            <a:pPr marL="0" indent="0">
              <a:buNone/>
            </a:pPr>
            <a:endParaRPr lang="en-US" sz="140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4428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E59016-6463-9431-64D4-C3FFFE8E651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1E328B-E4C7-E76B-0D84-67E24278D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3D6C2E-733F-42C9-8BBD-CE2991D29796}"/>
              </a:ext>
            </a:extLst>
          </p:cNvPr>
          <p:cNvSpPr>
            <a:spLocks noGrp="1"/>
          </p:cNvSpPr>
          <p:nvPr>
            <p:ph type="title"/>
          </p:nvPr>
        </p:nvSpPr>
        <p:spPr>
          <a:xfrm>
            <a:off x="742857" y="270071"/>
            <a:ext cx="9688296" cy="1642969"/>
          </a:xfrm>
        </p:spPr>
        <p:txBody>
          <a:bodyPr anchor="b">
            <a:normAutofit/>
          </a:bodyPr>
          <a:lstStyle/>
          <a:p>
            <a:r>
              <a:rPr lang="en-IN" dirty="0">
                <a:latin typeface="PT Serif" panose="020A0603040505020204" pitchFamily="18" charset="77"/>
              </a:rPr>
              <a:t>The Data Ingestion Pipeline &amp; Semantic Parsing</a:t>
            </a:r>
            <a:endParaRPr lang="en-US" sz="3100" dirty="0">
              <a:latin typeface="PT Serif" panose="020A0603040505020204" pitchFamily="18" charset="77"/>
            </a:endParaRPr>
          </a:p>
        </p:txBody>
      </p:sp>
      <p:sp>
        <p:nvSpPr>
          <p:cNvPr id="3" name="Content Placeholder 2">
            <a:extLst>
              <a:ext uri="{FF2B5EF4-FFF2-40B4-BE49-F238E27FC236}">
                <a16:creationId xmlns:a16="http://schemas.microsoft.com/office/drawing/2014/main" id="{58AC4349-291D-49C3-01D3-D6C32EB5FEF4}"/>
              </a:ext>
            </a:extLst>
          </p:cNvPr>
          <p:cNvSpPr>
            <a:spLocks noGrp="1"/>
          </p:cNvSpPr>
          <p:nvPr>
            <p:ph idx="1"/>
          </p:nvPr>
        </p:nvSpPr>
        <p:spPr>
          <a:xfrm>
            <a:off x="559657" y="2192061"/>
            <a:ext cx="10299760" cy="3959300"/>
          </a:xfrm>
        </p:spPr>
        <p:txBody>
          <a:bodyPr anchor="t">
            <a:normAutofit/>
          </a:bodyPr>
          <a:lstStyle/>
          <a:p>
            <a:r>
              <a:rPr lang="en-IN" sz="2000" b="1" dirty="0">
                <a:latin typeface="DM Sans" pitchFamily="2" charset="77"/>
              </a:rPr>
              <a:t>Persistent Vector Storage:</a:t>
            </a:r>
            <a:r>
              <a:rPr lang="en-IN" sz="2000" dirty="0">
                <a:latin typeface="DM Sans" pitchFamily="2" charset="77"/>
              </a:rPr>
              <a:t> Built on ChromaDB utilizing all-MiniLM-L6-v2 embeddings for highly efficient financial document retrieval.</a:t>
            </a:r>
          </a:p>
          <a:p>
            <a:r>
              <a:rPr lang="en-IN" sz="2000" b="1" dirty="0">
                <a:latin typeface="DM Sans" pitchFamily="2" charset="77"/>
              </a:rPr>
              <a:t>Maximum Marginal Relevance (MMR):</a:t>
            </a:r>
            <a:r>
              <a:rPr lang="en-IN" sz="2000" dirty="0">
                <a:latin typeface="DM Sans" pitchFamily="2" charset="77"/>
              </a:rPr>
              <a:t> Retrieval is configured with MMR to guarantee extracted document chunks are diverse and non-redundant, giving the agent a broader context.</a:t>
            </a:r>
          </a:p>
          <a:p>
            <a:r>
              <a:rPr lang="en-IN" sz="2000" b="1" dirty="0">
                <a:latin typeface="DM Sans" pitchFamily="2" charset="77"/>
              </a:rPr>
              <a:t>Semantic Context Reconstruction:</a:t>
            </a:r>
            <a:r>
              <a:rPr lang="en-IN" sz="2000" dirty="0">
                <a:latin typeface="DM Sans" pitchFamily="2" charset="77"/>
              </a:rPr>
              <a:t> Engineered custom parsing logic to normalize hard line breaks in PDFs. The code merges disjointed line fragments back into grammatically complete sentences before embedding, eliminating noise in the RAG pipeline.</a:t>
            </a:r>
          </a:p>
          <a:p>
            <a:pPr marL="0" indent="0">
              <a:buNone/>
            </a:pPr>
            <a:endParaRPr lang="en-US" sz="1400" dirty="0"/>
          </a:p>
        </p:txBody>
      </p:sp>
      <p:sp>
        <p:nvSpPr>
          <p:cNvPr id="10" name="Rectangle 9">
            <a:extLst>
              <a:ext uri="{FF2B5EF4-FFF2-40B4-BE49-F238E27FC236}">
                <a16:creationId xmlns:a16="http://schemas.microsoft.com/office/drawing/2014/main" id="{952A8FB1-50CA-2C61-0832-591A7F94D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4F72173-D91D-414E-8ABC-31543C943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4441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05F12B-CFC6-84B5-A4D0-62C2B9AF90A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84960E-552A-317B-93B5-FA212E777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FBCE3-CE8F-EFA4-8488-B2EB8FA0F3F1}"/>
              </a:ext>
            </a:extLst>
          </p:cNvPr>
          <p:cNvSpPr>
            <a:spLocks noGrp="1"/>
          </p:cNvSpPr>
          <p:nvPr>
            <p:ph type="title"/>
          </p:nvPr>
        </p:nvSpPr>
        <p:spPr>
          <a:xfrm>
            <a:off x="742857" y="270071"/>
            <a:ext cx="9688296" cy="1642969"/>
          </a:xfrm>
        </p:spPr>
        <p:txBody>
          <a:bodyPr anchor="b">
            <a:normAutofit/>
          </a:bodyPr>
          <a:lstStyle/>
          <a:p>
            <a:r>
              <a:rPr lang="en-IN" dirty="0">
                <a:latin typeface="PT Serif" panose="020A0603040505020204" pitchFamily="18" charset="77"/>
              </a:rPr>
              <a:t>Execution Logic (The Math Offloading Engine)</a:t>
            </a:r>
            <a:endParaRPr lang="en-US" sz="3100" dirty="0">
              <a:latin typeface="PT Serif" panose="020A0603040505020204" pitchFamily="18" charset="77"/>
            </a:endParaRPr>
          </a:p>
        </p:txBody>
      </p:sp>
      <p:sp>
        <p:nvSpPr>
          <p:cNvPr id="3" name="Content Placeholder 2">
            <a:extLst>
              <a:ext uri="{FF2B5EF4-FFF2-40B4-BE49-F238E27FC236}">
                <a16:creationId xmlns:a16="http://schemas.microsoft.com/office/drawing/2014/main" id="{2FEE9108-4161-A212-094F-301367629A42}"/>
              </a:ext>
            </a:extLst>
          </p:cNvPr>
          <p:cNvSpPr>
            <a:spLocks noGrp="1"/>
          </p:cNvSpPr>
          <p:nvPr>
            <p:ph idx="1"/>
          </p:nvPr>
        </p:nvSpPr>
        <p:spPr>
          <a:xfrm>
            <a:off x="559656" y="2192060"/>
            <a:ext cx="10725659" cy="3190167"/>
          </a:xfrm>
        </p:spPr>
        <p:txBody>
          <a:bodyPr anchor="t">
            <a:normAutofit/>
          </a:bodyPr>
          <a:lstStyle/>
          <a:p>
            <a:r>
              <a:rPr lang="en-IN" sz="2000" b="1" dirty="0">
                <a:latin typeface="DM Sans" pitchFamily="2" charset="77"/>
              </a:rPr>
              <a:t>Architecture Principle:</a:t>
            </a:r>
            <a:r>
              <a:rPr lang="en-IN" sz="2000" dirty="0">
                <a:latin typeface="DM Sans" pitchFamily="2" charset="77"/>
              </a:rPr>
              <a:t> The agent acts strictly as an orchestrator, routing requests, rather than a raw mathematical generator.</a:t>
            </a:r>
          </a:p>
          <a:p>
            <a:r>
              <a:rPr lang="en-IN" sz="2000" b="1" dirty="0">
                <a:latin typeface="DM Sans" pitchFamily="2" charset="77"/>
              </a:rPr>
              <a:t>Direct Solver Offloading:</a:t>
            </a:r>
            <a:r>
              <a:rPr lang="en-IN" sz="2000" dirty="0">
                <a:latin typeface="DM Sans" pitchFamily="2" charset="77"/>
              </a:rPr>
              <a:t> When a user requests a solvency calculation, the agent extracts the parameters and triggers a local Python script (Random Forest) instead of calculating it in the prompt window.</a:t>
            </a:r>
          </a:p>
          <a:p>
            <a:r>
              <a:rPr lang="en-IN" sz="2000" b="1" dirty="0">
                <a:latin typeface="DM Sans" pitchFamily="2" charset="77"/>
              </a:rPr>
              <a:t>Result Synthesis:</a:t>
            </a:r>
            <a:r>
              <a:rPr lang="en-IN" sz="2000" dirty="0">
                <a:latin typeface="DM Sans" pitchFamily="2" charset="77"/>
              </a:rPr>
              <a:t> The raw quantitative output from the Python model is passed back to the LLM to format into a clean, human-readable executive summary.</a:t>
            </a:r>
          </a:p>
          <a:p>
            <a:pPr marL="0" indent="0">
              <a:buNone/>
            </a:pPr>
            <a:endParaRPr lang="en-US" sz="1400" dirty="0"/>
          </a:p>
        </p:txBody>
      </p:sp>
      <p:sp>
        <p:nvSpPr>
          <p:cNvPr id="10" name="Rectangle 9">
            <a:extLst>
              <a:ext uri="{FF2B5EF4-FFF2-40B4-BE49-F238E27FC236}">
                <a16:creationId xmlns:a16="http://schemas.microsoft.com/office/drawing/2014/main" id="{EE503EBA-A7C5-EA6F-EC38-453510DB9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54219C-68CD-0EB1-893F-68B19C852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3270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C01EC2-94F0-C923-8660-DA9ECCB5E4D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F893DCC-1E45-0ADE-35BF-EF1D55AE96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F25354-E136-1191-F125-5DF99318A42D}"/>
              </a:ext>
            </a:extLst>
          </p:cNvPr>
          <p:cNvSpPr>
            <a:spLocks noGrp="1"/>
          </p:cNvSpPr>
          <p:nvPr>
            <p:ph type="title"/>
          </p:nvPr>
        </p:nvSpPr>
        <p:spPr>
          <a:xfrm>
            <a:off x="742857" y="270071"/>
            <a:ext cx="9688296" cy="1642969"/>
          </a:xfrm>
        </p:spPr>
        <p:txBody>
          <a:bodyPr anchor="b">
            <a:normAutofit/>
          </a:bodyPr>
          <a:lstStyle/>
          <a:p>
            <a:r>
              <a:rPr lang="en-IN" dirty="0">
                <a:latin typeface="PT Serif" panose="020A0603040505020204" pitchFamily="18" charset="77"/>
              </a:rPr>
              <a:t>System Resilience: Handling Edge Cases &amp; Failures</a:t>
            </a:r>
            <a:endParaRPr lang="en-US" sz="3100" dirty="0">
              <a:latin typeface="PT Serif" panose="020A0603040505020204" pitchFamily="18" charset="77"/>
            </a:endParaRPr>
          </a:p>
        </p:txBody>
      </p:sp>
      <p:sp>
        <p:nvSpPr>
          <p:cNvPr id="3" name="Content Placeholder 2">
            <a:extLst>
              <a:ext uri="{FF2B5EF4-FFF2-40B4-BE49-F238E27FC236}">
                <a16:creationId xmlns:a16="http://schemas.microsoft.com/office/drawing/2014/main" id="{738EBDE1-BC18-CE4F-361E-3A9249F08A85}"/>
              </a:ext>
            </a:extLst>
          </p:cNvPr>
          <p:cNvSpPr>
            <a:spLocks noGrp="1"/>
          </p:cNvSpPr>
          <p:nvPr>
            <p:ph idx="1"/>
          </p:nvPr>
        </p:nvSpPr>
        <p:spPr>
          <a:xfrm>
            <a:off x="742857" y="2120937"/>
            <a:ext cx="5152663" cy="4113517"/>
          </a:xfrm>
        </p:spPr>
        <p:txBody>
          <a:bodyPr anchor="t">
            <a:normAutofit fontScale="47500" lnSpcReduction="20000"/>
          </a:bodyPr>
          <a:lstStyle/>
          <a:p>
            <a:pPr marL="0" indent="0">
              <a:buNone/>
            </a:pPr>
            <a:r>
              <a:rPr lang="en-IN" sz="3800" dirty="0">
                <a:latin typeface="DM Sans" pitchFamily="2" charset="77"/>
              </a:rPr>
              <a:t>WHAT IF THE LOCAL MODEL FAILS?</a:t>
            </a:r>
          </a:p>
          <a:p>
            <a:pPr marL="72000" indent="0">
              <a:lnSpc>
                <a:spcPct val="120000"/>
              </a:lnSpc>
              <a:buNone/>
            </a:pPr>
            <a:r>
              <a:rPr lang="en-IN" sz="3300" b="1" dirty="0">
                <a:latin typeface="DM Sans" pitchFamily="2" charset="77"/>
              </a:rPr>
              <a:t>AgentExecutor Retry Logic:</a:t>
            </a:r>
            <a:r>
              <a:rPr lang="en-IN" sz="3300" dirty="0">
                <a:latin typeface="DM Sans" pitchFamily="2" charset="77"/>
              </a:rPr>
              <a:t> Configured LangChain’s AgentExecutor to capture tool-level Python exceptions (ValueError, TypeError) as </a:t>
            </a:r>
            <a:r>
              <a:rPr lang="en-IN" sz="3300" i="1" dirty="0">
                <a:latin typeface="DM Sans" pitchFamily="2" charset="77"/>
              </a:rPr>
              <a:t>Observations</a:t>
            </a:r>
            <a:r>
              <a:rPr lang="en-IN" sz="3300" dirty="0">
                <a:latin typeface="DM Sans" pitchFamily="2" charset="77"/>
              </a:rPr>
              <a:t> rather than fatal crashes.</a:t>
            </a:r>
          </a:p>
          <a:p>
            <a:pPr marL="72000" indent="0">
              <a:lnSpc>
                <a:spcPct val="120000"/>
              </a:lnSpc>
              <a:buNone/>
            </a:pPr>
            <a:r>
              <a:rPr lang="en-IN" sz="3300" b="1" dirty="0">
                <a:latin typeface="DM Sans" pitchFamily="2" charset="77"/>
              </a:rPr>
              <a:t>Self-Correction Loop:</a:t>
            </a:r>
            <a:r>
              <a:rPr lang="en-IN" sz="3300" dirty="0">
                <a:latin typeface="DM Sans" pitchFamily="2" charset="77"/>
              </a:rPr>
              <a:t> The ReAct agent reads the error, understands the parameter mismatch, and autonomously re-triggers the tool with corrected data.</a:t>
            </a:r>
          </a:p>
          <a:p>
            <a:pPr marL="72000" indent="0">
              <a:lnSpc>
                <a:spcPct val="120000"/>
              </a:lnSpc>
              <a:buNone/>
            </a:pPr>
            <a:r>
              <a:rPr lang="en-IN" sz="3300" b="1" dirty="0">
                <a:latin typeface="DM Sans" pitchFamily="2" charset="77"/>
              </a:rPr>
              <a:t>Graceful Degradation:</a:t>
            </a:r>
            <a:r>
              <a:rPr lang="en-IN" sz="3300" dirty="0">
                <a:latin typeface="DM Sans" pitchFamily="2" charset="77"/>
              </a:rPr>
              <a:t> Implemented a hard limit (e.g., 3 retries). If the calculation repeatedly fails, the agent outputs a deterministic error message ("Insufficient data for Z-Score") strictly preventing arithmetic hallucinations.</a:t>
            </a:r>
          </a:p>
          <a:p>
            <a:pPr marL="0" indent="0">
              <a:buNone/>
            </a:pPr>
            <a:endParaRPr lang="en-US" sz="1400" dirty="0"/>
          </a:p>
        </p:txBody>
      </p:sp>
      <p:sp>
        <p:nvSpPr>
          <p:cNvPr id="10" name="Rectangle 9">
            <a:extLst>
              <a:ext uri="{FF2B5EF4-FFF2-40B4-BE49-F238E27FC236}">
                <a16:creationId xmlns:a16="http://schemas.microsoft.com/office/drawing/2014/main" id="{C9880CB7-FD85-5303-3BB7-3AC1980B7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9C176A-E360-E32B-2F41-FDEE523B0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B18AA03-F939-A2DB-6ABA-A3890CD8E5BC}"/>
              </a:ext>
            </a:extLst>
          </p:cNvPr>
          <p:cNvSpPr txBox="1"/>
          <p:nvPr/>
        </p:nvSpPr>
        <p:spPr>
          <a:xfrm>
            <a:off x="5895520" y="2079385"/>
            <a:ext cx="5598289" cy="3600986"/>
          </a:xfrm>
          <a:prstGeom prst="rect">
            <a:avLst/>
          </a:prstGeom>
          <a:noFill/>
        </p:spPr>
        <p:txBody>
          <a:bodyPr wrap="square">
            <a:spAutoFit/>
          </a:bodyPr>
          <a:lstStyle/>
          <a:p>
            <a:pPr>
              <a:buNone/>
            </a:pPr>
            <a:r>
              <a:rPr lang="en-IN" dirty="0">
                <a:latin typeface="DM Sans" pitchFamily="2" charset="77"/>
              </a:rPr>
              <a:t>WHAT IF THE PDF IS ENTIRELY UNREADABLE?</a:t>
            </a:r>
          </a:p>
          <a:p>
            <a:pPr>
              <a:buNone/>
            </a:pPr>
            <a:endParaRPr lang="en-IN" sz="1600" dirty="0">
              <a:latin typeface="DM Sans" pitchFamily="2" charset="77"/>
            </a:endParaRPr>
          </a:p>
          <a:p>
            <a:r>
              <a:rPr lang="en-IN" sz="1600" b="1" dirty="0">
                <a:latin typeface="DM Sans" pitchFamily="2" charset="77"/>
              </a:rPr>
              <a:t>Pre-Ingestion Validation:</a:t>
            </a:r>
            <a:r>
              <a:rPr lang="en-IN" sz="1600" dirty="0">
                <a:latin typeface="DM Sans" pitchFamily="2" charset="77"/>
              </a:rPr>
              <a:t> Pipeline evaluates extraction yield before embedding. If a 100-page PDF returns fewer than a threshold of tokens, the system flags it as non-machine-readable.</a:t>
            </a:r>
          </a:p>
          <a:p>
            <a:r>
              <a:rPr lang="en-IN" sz="1600" b="1" dirty="0">
                <a:latin typeface="DM Sans" pitchFamily="2" charset="77"/>
              </a:rPr>
              <a:t>RAG Contamination Prevention:</a:t>
            </a:r>
            <a:r>
              <a:rPr lang="en-IN" sz="1600" dirty="0">
                <a:latin typeface="DM Sans" pitchFamily="2" charset="77"/>
              </a:rPr>
              <a:t> Corrupt or empty documents are hard-blocked from entering ChromaDB, ensuring the vector space remains dense and contextually relevant.</a:t>
            </a:r>
          </a:p>
          <a:p>
            <a:r>
              <a:rPr lang="en-IN" sz="1600" b="1" dirty="0">
                <a:latin typeface="DM Sans" pitchFamily="2" charset="77"/>
              </a:rPr>
              <a:t>User Feedback Loop:</a:t>
            </a:r>
            <a:r>
              <a:rPr lang="en-IN" sz="1600" dirty="0">
                <a:latin typeface="DM Sans" pitchFamily="2" charset="77"/>
              </a:rPr>
              <a:t> Instantly alerts the user in the UI to run OCR (Optical Character Recognition) on the document before retrying.</a:t>
            </a:r>
          </a:p>
          <a:p>
            <a:pPr>
              <a:buNone/>
            </a:pPr>
            <a:endParaRPr lang="en-IN" dirty="0"/>
          </a:p>
        </p:txBody>
      </p:sp>
    </p:spTree>
    <p:extLst>
      <p:ext uri="{BB962C8B-B14F-4D97-AF65-F5344CB8AC3E}">
        <p14:creationId xmlns:p14="http://schemas.microsoft.com/office/powerpoint/2010/main" val="440980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0812F0-4452-13B0-386B-C354DFDE47E1}"/>
              </a:ext>
            </a:extLst>
          </p:cNvPr>
          <p:cNvSpPr>
            <a:spLocks noGrp="1"/>
          </p:cNvSpPr>
          <p:nvPr>
            <p:ph type="title"/>
          </p:nvPr>
        </p:nvSpPr>
        <p:spPr>
          <a:xfrm>
            <a:off x="656823" y="962166"/>
            <a:ext cx="3103808" cy="4421876"/>
          </a:xfrm>
        </p:spPr>
        <p:txBody>
          <a:bodyPr anchor="t">
            <a:normAutofit/>
          </a:bodyPr>
          <a:lstStyle/>
          <a:p>
            <a:pPr algn="r"/>
            <a:r>
              <a:rPr lang="en-US" sz="3700" dirty="0">
                <a:latin typeface="PT Serif" pitchFamily="34" charset="0"/>
                <a:ea typeface="PT Serif" pitchFamily="34" charset="-122"/>
                <a:cs typeface="PT Serif" pitchFamily="34" charset="-120"/>
              </a:rPr>
              <a:t>Chatbot Token Optimization Framework</a:t>
            </a:r>
            <a:br>
              <a:rPr lang="en-US" sz="3700" dirty="0"/>
            </a:br>
            <a:endParaRPr lang="en-US" sz="3700" dirty="0"/>
          </a:p>
        </p:txBody>
      </p:sp>
      <p:sp>
        <p:nvSpPr>
          <p:cNvPr id="3" name="Content Placeholder 2">
            <a:extLst>
              <a:ext uri="{FF2B5EF4-FFF2-40B4-BE49-F238E27FC236}">
                <a16:creationId xmlns:a16="http://schemas.microsoft.com/office/drawing/2014/main" id="{FA691BFE-6AF0-D47C-F3EC-DCDFFF449269}"/>
              </a:ext>
            </a:extLst>
          </p:cNvPr>
          <p:cNvSpPr>
            <a:spLocks noGrp="1"/>
          </p:cNvSpPr>
          <p:nvPr>
            <p:ph idx="1"/>
          </p:nvPr>
        </p:nvSpPr>
        <p:spPr>
          <a:xfrm>
            <a:off x="4088929" y="962167"/>
            <a:ext cx="6858113" cy="4743174"/>
          </a:xfrm>
        </p:spPr>
        <p:txBody>
          <a:bodyPr anchor="t">
            <a:normAutofit/>
          </a:bodyPr>
          <a:lstStyle/>
          <a:p>
            <a:pPr marL="0" indent="0">
              <a:buNone/>
            </a:pPr>
            <a:r>
              <a:rPr lang="en-US" sz="1600" dirty="0">
                <a:latin typeface="PT Serif" pitchFamily="34" charset="0"/>
                <a:ea typeface="PT Serif" pitchFamily="34" charset="-122"/>
                <a:cs typeface="PT Serif" pitchFamily="34" charset="-120"/>
              </a:rPr>
              <a:t>How I Optimized (Implemented in my Project)</a:t>
            </a:r>
            <a:endParaRPr lang="en-US" sz="1600" dirty="0"/>
          </a:p>
          <a:p>
            <a:pPr marL="342900" indent="-342900">
              <a:buSzPct val="100000"/>
            </a:pPr>
            <a:r>
              <a:rPr lang="en-US" sz="1600" b="1" dirty="0">
                <a:latin typeface="DM Sans" pitchFamily="34" charset="0"/>
                <a:ea typeface="DM Sans" pitchFamily="34" charset="-122"/>
                <a:cs typeface="DM Sans" pitchFamily="34" charset="-120"/>
              </a:rPr>
              <a:t>Token-Bound Splitting</a:t>
            </a:r>
            <a:r>
              <a:rPr lang="en-US" sz="1600" dirty="0">
                <a:latin typeface="DM Sans" pitchFamily="34" charset="0"/>
                <a:ea typeface="DM Sans" pitchFamily="34" charset="-122"/>
                <a:cs typeface="DM Sans" pitchFamily="34" charset="-120"/>
              </a:rPr>
              <a:t>: Swapped character splitting for </a:t>
            </a:r>
            <a:r>
              <a:rPr lang="en-US" sz="1600" dirty="0" err="1">
                <a:latin typeface="DM Sans" pitchFamily="34" charset="0"/>
                <a:ea typeface="DM Sans" pitchFamily="34" charset="-122"/>
                <a:cs typeface="DM Sans" pitchFamily="34" charset="-120"/>
              </a:rPr>
              <a:t>tiktoken</a:t>
            </a:r>
            <a:r>
              <a:rPr lang="en-US" sz="1600" dirty="0">
                <a:latin typeface="DM Sans" pitchFamily="34" charset="0"/>
                <a:ea typeface="DM Sans" pitchFamily="34" charset="-122"/>
                <a:cs typeface="DM Sans" pitchFamily="34" charset="-120"/>
              </a:rPr>
              <a:t> encoder splitting (500 tokens, 100 overlap) to align chunks exactly with LLM tokenizer boundaries.</a:t>
            </a:r>
            <a:endParaRPr lang="en-US" sz="1600" dirty="0"/>
          </a:p>
          <a:p>
            <a:pPr marL="342900" indent="-342900">
              <a:buSzPct val="100000"/>
            </a:pPr>
            <a:r>
              <a:rPr lang="en-US" sz="1600" b="1" dirty="0">
                <a:latin typeface="DM Sans" pitchFamily="34" charset="0"/>
                <a:ea typeface="DM Sans" pitchFamily="34" charset="-122"/>
                <a:cs typeface="DM Sans" pitchFamily="34" charset="-120"/>
              </a:rPr>
              <a:t>Math Offloading</a:t>
            </a:r>
            <a:r>
              <a:rPr lang="en-US" sz="1600" dirty="0">
                <a:latin typeface="DM Sans" pitchFamily="34" charset="0"/>
                <a:ea typeface="DM Sans" pitchFamily="34" charset="-122"/>
                <a:cs typeface="DM Sans" pitchFamily="34" charset="-120"/>
              </a:rPr>
              <a:t>: Moved heavy solvency, anomaly, and forecasting calculations to local python models, saving thousands of reasoning tokens inside the context window.</a:t>
            </a:r>
            <a:endParaRPr lang="en-US" sz="1600" dirty="0"/>
          </a:p>
          <a:p>
            <a:pPr marL="0" indent="0">
              <a:buNone/>
            </a:pPr>
            <a:r>
              <a:rPr lang="en-US" sz="1600" dirty="0">
                <a:latin typeface="PT Serif" pitchFamily="34" charset="0"/>
                <a:ea typeface="PT Serif" pitchFamily="34" charset="-122"/>
                <a:cs typeface="PT Serif" pitchFamily="34" charset="-120"/>
              </a:rPr>
              <a:t>How to Optimize More </a:t>
            </a:r>
            <a:endParaRPr lang="en-US" sz="1600" dirty="0"/>
          </a:p>
          <a:p>
            <a:pPr marL="342900" indent="-342900">
              <a:buSzPct val="100000"/>
            </a:pPr>
            <a:r>
              <a:rPr lang="en-US" sz="1600" b="1" dirty="0">
                <a:latin typeface="DM Sans" pitchFamily="34" charset="0"/>
                <a:ea typeface="DM Sans" pitchFamily="34" charset="-122"/>
                <a:cs typeface="DM Sans" pitchFamily="34" charset="-120"/>
              </a:rPr>
              <a:t>Semantic Prompt Caching</a:t>
            </a:r>
            <a:r>
              <a:rPr lang="en-US" sz="1600" dirty="0">
                <a:latin typeface="DM Sans" pitchFamily="34" charset="0"/>
                <a:ea typeface="DM Sans" pitchFamily="34" charset="-122"/>
                <a:cs typeface="DM Sans" pitchFamily="34" charset="-120"/>
              </a:rPr>
              <a:t>: Cache semantic vector embeddings of query-response pairs to answer repeated questions without invoking the LLM.</a:t>
            </a:r>
            <a:endParaRPr lang="en-US" sz="1600" dirty="0"/>
          </a:p>
          <a:p>
            <a:pPr marL="342900" indent="-342900">
              <a:buSzPct val="100000"/>
            </a:pPr>
            <a:r>
              <a:rPr lang="en-US" sz="1600" b="1" dirty="0">
                <a:latin typeface="DM Sans" pitchFamily="34" charset="0"/>
                <a:ea typeface="DM Sans" pitchFamily="34" charset="-122"/>
                <a:cs typeface="DM Sans" pitchFamily="34" charset="-120"/>
              </a:rPr>
              <a:t>Dynamic Tool Masking</a:t>
            </a:r>
            <a:r>
              <a:rPr lang="en-US" sz="1600" dirty="0">
                <a:latin typeface="DM Sans" pitchFamily="34" charset="0"/>
                <a:ea typeface="DM Sans" pitchFamily="34" charset="-122"/>
                <a:cs typeface="DM Sans" pitchFamily="34" charset="-120"/>
              </a:rPr>
              <a:t>: Program the LangChain agent to only inject instructions/schemas for relevant tools based on query intent classification.</a:t>
            </a:r>
            <a:endParaRPr lang="en-US" sz="1600" dirty="0"/>
          </a:p>
          <a:p>
            <a:pPr marL="342900" indent="-342900">
              <a:buSzPct val="100000"/>
            </a:pPr>
            <a:r>
              <a:rPr lang="en-US" sz="1600" b="1" dirty="0">
                <a:latin typeface="DM Sans" pitchFamily="34" charset="0"/>
                <a:ea typeface="DM Sans" pitchFamily="34" charset="-122"/>
                <a:cs typeface="DM Sans" pitchFamily="34" charset="-120"/>
              </a:rPr>
              <a:t>Context Fact Extraction</a:t>
            </a:r>
            <a:r>
              <a:rPr lang="en-US" sz="1600" dirty="0">
                <a:latin typeface="DM Sans" pitchFamily="34" charset="0"/>
                <a:ea typeface="DM Sans" pitchFamily="34" charset="-122"/>
                <a:cs typeface="DM Sans" pitchFamily="34" charset="-120"/>
              </a:rPr>
              <a:t>: Pass raw retrieved chunks to a local, lightweight summarizer to extract key-value metrics, pruning context noise before prompt injection.</a:t>
            </a:r>
            <a:endParaRPr lang="en-US" sz="1600" dirty="0"/>
          </a:p>
          <a:p>
            <a:endParaRPr lang="en-US" sz="160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7077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B33ECA-A223-2FA3-EF76-49DF62D36F79}"/>
              </a:ext>
            </a:extLst>
          </p:cNvPr>
          <p:cNvSpPr>
            <a:spLocks noGrp="1"/>
          </p:cNvSpPr>
          <p:nvPr>
            <p:ph type="title"/>
          </p:nvPr>
        </p:nvSpPr>
        <p:spPr>
          <a:xfrm>
            <a:off x="656823" y="962166"/>
            <a:ext cx="3103808" cy="4421876"/>
          </a:xfrm>
        </p:spPr>
        <p:txBody>
          <a:bodyPr anchor="t">
            <a:normAutofit/>
          </a:bodyPr>
          <a:lstStyle/>
          <a:p>
            <a:pPr algn="r"/>
            <a:r>
              <a:rPr lang="en-US" sz="4000" dirty="0">
                <a:latin typeface="PT Serif" pitchFamily="34" charset="0"/>
                <a:ea typeface="PT Serif" pitchFamily="34" charset="-122"/>
                <a:cs typeface="PT Serif" pitchFamily="34" charset="-120"/>
              </a:rPr>
              <a:t>Future Work &amp; Scaling</a:t>
            </a:r>
            <a:br>
              <a:rPr lang="en-US" sz="4000" dirty="0"/>
            </a:br>
            <a:endParaRPr lang="en-US" sz="4000" dirty="0"/>
          </a:p>
        </p:txBody>
      </p:sp>
      <p:sp>
        <p:nvSpPr>
          <p:cNvPr id="3" name="Content Placeholder 2">
            <a:extLst>
              <a:ext uri="{FF2B5EF4-FFF2-40B4-BE49-F238E27FC236}">
                <a16:creationId xmlns:a16="http://schemas.microsoft.com/office/drawing/2014/main" id="{1B4D6475-2F39-CE8B-4044-2F150C4A0E12}"/>
              </a:ext>
            </a:extLst>
          </p:cNvPr>
          <p:cNvSpPr>
            <a:spLocks noGrp="1"/>
          </p:cNvSpPr>
          <p:nvPr>
            <p:ph idx="1"/>
          </p:nvPr>
        </p:nvSpPr>
        <p:spPr>
          <a:xfrm>
            <a:off x="4088929" y="962167"/>
            <a:ext cx="6858113" cy="4743174"/>
          </a:xfrm>
        </p:spPr>
        <p:txBody>
          <a:bodyPr anchor="t">
            <a:normAutofit/>
          </a:bodyPr>
          <a:lstStyle/>
          <a:p>
            <a:pPr marL="0" indent="0">
              <a:buNone/>
            </a:pPr>
            <a:r>
              <a:rPr lang="en-US" sz="1900" b="1" u="sng" dirty="0">
                <a:latin typeface="PT Serif" pitchFamily="34" charset="0"/>
                <a:ea typeface="PT Serif" pitchFamily="34" charset="-122"/>
                <a:cs typeface="PT Serif" pitchFamily="34" charset="-120"/>
              </a:rPr>
              <a:t>Vectorless RAG (GraphRAG)</a:t>
            </a:r>
            <a:endParaRPr lang="en-US" sz="1900" b="1" u="sng" dirty="0"/>
          </a:p>
          <a:p>
            <a:pPr marL="0" indent="0">
              <a:buNone/>
            </a:pPr>
            <a:r>
              <a:rPr lang="en-US" sz="1900" dirty="0">
                <a:latin typeface="DM Sans" pitchFamily="34" charset="0"/>
                <a:ea typeface="DM Sans" pitchFamily="34" charset="-122"/>
                <a:cs typeface="DM Sans" pitchFamily="34" charset="-120"/>
              </a:rPr>
              <a:t>Move beyond simple vector search. Build a relational </a:t>
            </a:r>
            <a:r>
              <a:rPr lang="en-US" sz="1900" b="1" dirty="0">
                <a:latin typeface="DM Sans" pitchFamily="34" charset="0"/>
                <a:ea typeface="DM Sans" pitchFamily="34" charset="-122"/>
                <a:cs typeface="DM Sans" pitchFamily="34" charset="-120"/>
              </a:rPr>
              <a:t>Knowledge Graph</a:t>
            </a:r>
            <a:r>
              <a:rPr lang="en-US" sz="1900" dirty="0">
                <a:latin typeface="DM Sans" pitchFamily="34" charset="0"/>
                <a:ea typeface="DM Sans" pitchFamily="34" charset="-122"/>
                <a:cs typeface="DM Sans" pitchFamily="34" charset="-120"/>
              </a:rPr>
              <a:t> (e.g. using Neo4j) mapping company entities, balance sheets, and formulas for context-free, highly accurate grounding.</a:t>
            </a:r>
            <a:endParaRPr lang="en-US" sz="1900" dirty="0"/>
          </a:p>
          <a:p>
            <a:pPr marL="0" indent="0">
              <a:buNone/>
            </a:pPr>
            <a:r>
              <a:rPr lang="en-US" sz="1900" b="1" u="sng" dirty="0">
                <a:latin typeface="PT Serif" pitchFamily="34" charset="0"/>
                <a:ea typeface="PT Serif" pitchFamily="34" charset="-122"/>
                <a:cs typeface="PT Serif" pitchFamily="34" charset="-120"/>
              </a:rPr>
              <a:t>Advanced Multi-Agent Swarms</a:t>
            </a:r>
            <a:endParaRPr lang="en-US" sz="1900" b="1" u="sng" dirty="0"/>
          </a:p>
          <a:p>
            <a:pPr marL="0" indent="0">
              <a:buNone/>
            </a:pPr>
            <a:r>
              <a:rPr lang="en-US" sz="1900" dirty="0">
                <a:latin typeface="DM Sans" pitchFamily="34" charset="0"/>
                <a:ea typeface="DM Sans" pitchFamily="34" charset="-122"/>
                <a:cs typeface="DM Sans" pitchFamily="34" charset="-120"/>
              </a:rPr>
              <a:t>Orchestrate specialized sub-agents using </a:t>
            </a:r>
            <a:r>
              <a:rPr lang="en-US" sz="1900" b="1" dirty="0">
                <a:latin typeface="DM Sans" pitchFamily="34" charset="0"/>
                <a:ea typeface="DM Sans" pitchFamily="34" charset="-122"/>
                <a:cs typeface="DM Sans" pitchFamily="34" charset="-120"/>
              </a:rPr>
              <a:t>CrewAI</a:t>
            </a:r>
            <a:r>
              <a:rPr lang="en-US" sz="1900" dirty="0">
                <a:latin typeface="DM Sans" pitchFamily="34" charset="0"/>
                <a:ea typeface="DM Sans" pitchFamily="34" charset="-122"/>
                <a:cs typeface="DM Sans" pitchFamily="34" charset="-120"/>
              </a:rPr>
              <a:t> or </a:t>
            </a:r>
            <a:r>
              <a:rPr lang="en-US" sz="1900" b="1" dirty="0">
                <a:latin typeface="DM Sans" pitchFamily="34" charset="0"/>
                <a:ea typeface="DM Sans" pitchFamily="34" charset="-122"/>
                <a:cs typeface="DM Sans" pitchFamily="34" charset="-120"/>
              </a:rPr>
              <a:t>LangGraph</a:t>
            </a:r>
            <a:r>
              <a:rPr lang="en-US" sz="1900" dirty="0">
                <a:latin typeface="DM Sans" pitchFamily="34" charset="0"/>
                <a:ea typeface="DM Sans" pitchFamily="34" charset="-122"/>
                <a:cs typeface="DM Sans" pitchFamily="34" charset="-120"/>
              </a:rPr>
              <a:t>: </a:t>
            </a:r>
            <a:r>
              <a:rPr lang="en-US" sz="1900" i="1" dirty="0">
                <a:latin typeface="DM Sans" pitchFamily="34" charset="0"/>
                <a:ea typeface="DM Sans" pitchFamily="34" charset="-122"/>
                <a:cs typeface="DM Sans" pitchFamily="34" charset="-120"/>
              </a:rPr>
              <a:t>Compliance Agent</a:t>
            </a:r>
            <a:r>
              <a:rPr lang="en-US" sz="1900" dirty="0">
                <a:latin typeface="DM Sans" pitchFamily="34" charset="0"/>
                <a:ea typeface="DM Sans" pitchFamily="34" charset="-122"/>
                <a:cs typeface="DM Sans" pitchFamily="34" charset="-120"/>
              </a:rPr>
              <a:t> (auditing legal, regulatory disclosures), </a:t>
            </a:r>
            <a:r>
              <a:rPr lang="en-US" sz="1900" i="1" dirty="0">
                <a:latin typeface="DM Sans" pitchFamily="34" charset="0"/>
                <a:ea typeface="DM Sans" pitchFamily="34" charset="-122"/>
                <a:cs typeface="DM Sans" pitchFamily="34" charset="-120"/>
              </a:rPr>
              <a:t>Quant ML Agent</a:t>
            </a:r>
            <a:r>
              <a:rPr lang="en-US" sz="1900" dirty="0">
                <a:latin typeface="DM Sans" pitchFamily="34" charset="0"/>
                <a:ea typeface="DM Sans" pitchFamily="34" charset="-122"/>
                <a:cs typeface="DM Sans" pitchFamily="34" charset="-120"/>
              </a:rPr>
              <a:t> (running predictive solvers), </a:t>
            </a:r>
            <a:r>
              <a:rPr lang="en-US" sz="1900" i="1" dirty="0">
                <a:latin typeface="DM Sans" pitchFamily="34" charset="0"/>
                <a:ea typeface="DM Sans" pitchFamily="34" charset="-122"/>
                <a:cs typeface="DM Sans" pitchFamily="34" charset="-120"/>
              </a:rPr>
              <a:t>Synthesis Agent</a:t>
            </a:r>
            <a:r>
              <a:rPr lang="en-US" sz="1900" dirty="0">
                <a:latin typeface="DM Sans" pitchFamily="34" charset="0"/>
                <a:ea typeface="DM Sans" pitchFamily="34" charset="-122"/>
                <a:cs typeface="DM Sans" pitchFamily="34" charset="-120"/>
              </a:rPr>
              <a:t> (synthesizes reports into clean executive HTML).</a:t>
            </a:r>
            <a:endParaRPr lang="en-US" sz="1900" dirty="0"/>
          </a:p>
          <a:p>
            <a:pPr marL="0" indent="0">
              <a:buNone/>
            </a:pPr>
            <a:r>
              <a:rPr lang="en-US" sz="1900" b="1" u="sng" dirty="0">
                <a:latin typeface="PT Serif" pitchFamily="34" charset="0"/>
                <a:ea typeface="PT Serif" pitchFamily="34" charset="-122"/>
                <a:cs typeface="PT Serif" pitchFamily="34" charset="-120"/>
              </a:rPr>
              <a:t>Real-time Ingestion Pipelines</a:t>
            </a:r>
            <a:endParaRPr lang="en-US" sz="1900" b="1" u="sng" dirty="0"/>
          </a:p>
          <a:p>
            <a:pPr marL="0" indent="0">
              <a:buNone/>
            </a:pPr>
            <a:r>
              <a:rPr lang="en-US" sz="1900" dirty="0">
                <a:latin typeface="DM Sans" pitchFamily="34" charset="0"/>
                <a:ea typeface="DM Sans" pitchFamily="34" charset="-122"/>
                <a:cs typeface="DM Sans" pitchFamily="34" charset="-120"/>
              </a:rPr>
              <a:t>Automate pipeline feeds from SEC EDGAR RSS feeds to dynamically index the latest 10-K and 10-Q corporate reports.</a:t>
            </a:r>
            <a:endParaRPr lang="en-US" sz="1900" dirty="0"/>
          </a:p>
          <a:p>
            <a:pPr marL="0" indent="0">
              <a:buNone/>
            </a:pPr>
            <a:endParaRPr lang="en-US" sz="190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2080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18AFF8-78AF-BB80-2F8B-F8C8F9AC2DE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8A7D4A0-CB7C-726E-F4F3-167AE9722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2D086-8F4A-A24D-0005-1BDCCAA44ECB}"/>
              </a:ext>
            </a:extLst>
          </p:cNvPr>
          <p:cNvSpPr>
            <a:spLocks noGrp="1"/>
          </p:cNvSpPr>
          <p:nvPr>
            <p:ph type="title"/>
          </p:nvPr>
        </p:nvSpPr>
        <p:spPr>
          <a:xfrm>
            <a:off x="451413" y="962166"/>
            <a:ext cx="3309218" cy="4421876"/>
          </a:xfrm>
        </p:spPr>
        <p:txBody>
          <a:bodyPr anchor="t">
            <a:normAutofit/>
          </a:bodyPr>
          <a:lstStyle/>
          <a:p>
            <a:pPr algn="r"/>
            <a:r>
              <a:rPr lang="en-IN" dirty="0"/>
              <a:t>System Impact &amp; Hallucination Mitigation</a:t>
            </a:r>
            <a:endParaRPr lang="en-US" sz="4000" dirty="0"/>
          </a:p>
        </p:txBody>
      </p:sp>
      <p:sp>
        <p:nvSpPr>
          <p:cNvPr id="3" name="Content Placeholder 2">
            <a:extLst>
              <a:ext uri="{FF2B5EF4-FFF2-40B4-BE49-F238E27FC236}">
                <a16:creationId xmlns:a16="http://schemas.microsoft.com/office/drawing/2014/main" id="{889EC009-A0B2-EAEA-E58A-C54C0A94F591}"/>
              </a:ext>
            </a:extLst>
          </p:cNvPr>
          <p:cNvSpPr>
            <a:spLocks noGrp="1"/>
          </p:cNvSpPr>
          <p:nvPr>
            <p:ph idx="1"/>
          </p:nvPr>
        </p:nvSpPr>
        <p:spPr>
          <a:xfrm>
            <a:off x="4088929" y="962167"/>
            <a:ext cx="6858113" cy="4743174"/>
          </a:xfrm>
        </p:spPr>
        <p:txBody>
          <a:bodyPr anchor="t">
            <a:normAutofit/>
          </a:bodyPr>
          <a:lstStyle/>
          <a:p>
            <a:r>
              <a:rPr lang="en-IN" sz="2000" b="1" dirty="0">
                <a:latin typeface="DM Sans" pitchFamily="2" charset="77"/>
              </a:rPr>
              <a:t>Accuracy Guarantee:</a:t>
            </a:r>
            <a:r>
              <a:rPr lang="en-IN" sz="2000" dirty="0">
                <a:latin typeface="DM Sans" pitchFamily="2" charset="77"/>
              </a:rPr>
              <a:t> Offloading math to local solvers (Random Forest/Ridge) reduced calculation hallucinations to 0%.</a:t>
            </a:r>
          </a:p>
          <a:p>
            <a:r>
              <a:rPr lang="en-IN" sz="2000" b="1" dirty="0">
                <a:latin typeface="DM Sans" pitchFamily="2" charset="77"/>
              </a:rPr>
              <a:t>Token Efficiency:</a:t>
            </a:r>
            <a:r>
              <a:rPr lang="en-IN" sz="2000" dirty="0">
                <a:latin typeface="DM Sans" pitchFamily="2" charset="77"/>
              </a:rPr>
              <a:t> By utilizing tiktoken optimization and shifting math execution out of the prompt window, response latency and token costs were significantly reduced.</a:t>
            </a:r>
          </a:p>
          <a:p>
            <a:r>
              <a:rPr lang="en-IN" sz="2000" b="1" dirty="0">
                <a:latin typeface="DM Sans" pitchFamily="2" charset="77"/>
              </a:rPr>
              <a:t>Context Purity:</a:t>
            </a:r>
            <a:r>
              <a:rPr lang="en-IN" sz="2000" dirty="0">
                <a:latin typeface="DM Sans" pitchFamily="2" charset="77"/>
              </a:rPr>
              <a:t> The semantic context reconstruction technique completely eliminated RAG retrieval failures caused by fragmented PDF tables.</a:t>
            </a:r>
          </a:p>
          <a:p>
            <a:r>
              <a:rPr lang="en-IN" sz="1900" b="1" dirty="0">
                <a:latin typeface="DM Sans" pitchFamily="2" charset="77"/>
              </a:rPr>
              <a:t>Audit Velocity:</a:t>
            </a:r>
            <a:r>
              <a:rPr lang="en-IN" sz="1900" dirty="0">
                <a:latin typeface="DM Sans" pitchFamily="2" charset="77"/>
              </a:rPr>
              <a:t> By unifying RAG retrieval with deterministic solvency solvers, the time required to manually audit corporate filings and extract risk metrics is reduced from hours to seconds, building immediate trust in the AI's output.</a:t>
            </a:r>
          </a:p>
          <a:p>
            <a:pPr marL="0" indent="0">
              <a:buNone/>
            </a:pPr>
            <a:endParaRPr lang="en-US" sz="1900" dirty="0"/>
          </a:p>
        </p:txBody>
      </p:sp>
      <p:sp>
        <p:nvSpPr>
          <p:cNvPr id="10" name="Rectangle 9">
            <a:extLst>
              <a:ext uri="{FF2B5EF4-FFF2-40B4-BE49-F238E27FC236}">
                <a16:creationId xmlns:a16="http://schemas.microsoft.com/office/drawing/2014/main" id="{37ABAE6D-E1AD-C171-2887-0A8FCC9BE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390BA79-2E53-E2E5-716F-65B3AAD83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0357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D6B260-AD10-93F7-A107-33133D07DAFE}"/>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C95BC5BF-DB3B-09FF-9270-559B63A24F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A184F3-9024-A2C2-3782-8E0F32DAE598}"/>
              </a:ext>
            </a:extLst>
          </p:cNvPr>
          <p:cNvSpPr>
            <a:spLocks noGrp="1"/>
          </p:cNvSpPr>
          <p:nvPr>
            <p:ph type="title"/>
          </p:nvPr>
        </p:nvSpPr>
        <p:spPr>
          <a:xfrm>
            <a:off x="156582" y="55417"/>
            <a:ext cx="6688728" cy="1556870"/>
          </a:xfrm>
        </p:spPr>
        <p:txBody>
          <a:bodyPr vert="horz" lIns="91440" tIns="45720" rIns="91440" bIns="45720" rtlCol="0" anchor="b">
            <a:normAutofit/>
          </a:bodyPr>
          <a:lstStyle/>
          <a:p>
            <a:r>
              <a:rPr lang="en-US" sz="4000" dirty="0">
                <a:latin typeface="PT Serif" panose="020A0603040505020204" pitchFamily="18" charset="77"/>
                <a:cs typeface="October Compressed Tamil" pitchFamily="2" charset="77"/>
              </a:rPr>
              <a:t>Demo</a:t>
            </a:r>
            <a:br>
              <a:rPr lang="en-US" sz="4000" dirty="0"/>
            </a:br>
            <a:endParaRPr lang="en-US" sz="4000" dirty="0"/>
          </a:p>
        </p:txBody>
      </p:sp>
      <p:pic>
        <p:nvPicPr>
          <p:cNvPr id="5" name="Content Placeholder 4">
            <a:extLst>
              <a:ext uri="{FF2B5EF4-FFF2-40B4-BE49-F238E27FC236}">
                <a16:creationId xmlns:a16="http://schemas.microsoft.com/office/drawing/2014/main" id="{A7BB66F5-7EF0-295F-BC84-FDBB5E7496B0}"/>
              </a:ext>
            </a:extLst>
          </p:cNvPr>
          <p:cNvPicPr>
            <a:picLocks noChangeAspect="1"/>
          </p:cNvPicPr>
          <p:nvPr/>
        </p:nvPicPr>
        <p:blipFill>
          <a:blip r:embed="rId3"/>
          <a:srcRect r="-4" b="9584"/>
          <a:stretch>
            <a:fillRect/>
          </a:stretch>
        </p:blipFill>
        <p:spPr>
          <a:xfrm>
            <a:off x="0" y="950534"/>
            <a:ext cx="5777948" cy="3422683"/>
          </a:xfrm>
          <a:prstGeom prst="rect">
            <a:avLst/>
          </a:prstGeom>
        </p:spPr>
      </p:pic>
      <p:sp>
        <p:nvSpPr>
          <p:cNvPr id="47" name="Rectangle 46">
            <a:extLst>
              <a:ext uri="{FF2B5EF4-FFF2-40B4-BE49-F238E27FC236}">
                <a16:creationId xmlns:a16="http://schemas.microsoft.com/office/drawing/2014/main" id="{98FD359B-68F0-2E90-6BE9-AE030A0321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11E75F8-DFFA-9117-FAF8-57F56B4A8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CA71147-2C7F-1771-9C8E-D67F5696EDEF}"/>
              </a:ext>
            </a:extLst>
          </p:cNvPr>
          <p:cNvPicPr>
            <a:picLocks noChangeAspect="1"/>
          </p:cNvPicPr>
          <p:nvPr/>
        </p:nvPicPr>
        <p:blipFill>
          <a:blip r:embed="rId4"/>
          <a:srcRect l="3078" r="-1" b="-1"/>
          <a:stretch>
            <a:fillRect/>
          </a:stretch>
        </p:blipFill>
        <p:spPr>
          <a:xfrm>
            <a:off x="5777948" y="950107"/>
            <a:ext cx="6404437" cy="3423109"/>
          </a:xfrm>
          <a:prstGeom prst="rect">
            <a:avLst/>
          </a:prstGeom>
        </p:spPr>
      </p:pic>
      <p:pic>
        <p:nvPicPr>
          <p:cNvPr id="4" name="Picture 3">
            <a:extLst>
              <a:ext uri="{FF2B5EF4-FFF2-40B4-BE49-F238E27FC236}">
                <a16:creationId xmlns:a16="http://schemas.microsoft.com/office/drawing/2014/main" id="{6C0EC245-7AAF-40A5-136B-B4736E24B648}"/>
              </a:ext>
            </a:extLst>
          </p:cNvPr>
          <p:cNvPicPr>
            <a:picLocks noChangeAspect="1"/>
          </p:cNvPicPr>
          <p:nvPr/>
        </p:nvPicPr>
        <p:blipFill>
          <a:blip r:embed="rId5"/>
          <a:srcRect l="4684" r="43542" b="-2"/>
          <a:stretch>
            <a:fillRect/>
          </a:stretch>
        </p:blipFill>
        <p:spPr>
          <a:xfrm>
            <a:off x="3856402" y="4373217"/>
            <a:ext cx="4038580" cy="2027156"/>
          </a:xfrm>
          <a:prstGeom prst="rect">
            <a:avLst/>
          </a:prstGeom>
        </p:spPr>
      </p:pic>
    </p:spTree>
    <p:extLst>
      <p:ext uri="{BB962C8B-B14F-4D97-AF65-F5344CB8AC3E}">
        <p14:creationId xmlns:p14="http://schemas.microsoft.com/office/powerpoint/2010/main" val="3288146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1850</TotalTime>
  <Words>2467</Words>
  <Application>Microsoft Macintosh PowerPoint</Application>
  <PresentationFormat>Widescreen</PresentationFormat>
  <Paragraphs>203</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DM Sans</vt:lpstr>
      <vt:lpstr>PT Serif</vt:lpstr>
      <vt:lpstr>Office Theme</vt:lpstr>
      <vt:lpstr>FinSphereAI: Elevating Enterprise Financial Auditing with Autonomous Agents </vt:lpstr>
      <vt:lpstr>Problem Statement </vt:lpstr>
      <vt:lpstr>Features  </vt:lpstr>
      <vt:lpstr>Advanced Deterministic Solvers </vt:lpstr>
      <vt:lpstr>Introducing the FinSphereAI ReAct Chatbot Agent </vt:lpstr>
      <vt:lpstr>PowerPoint Presentation</vt:lpstr>
      <vt:lpstr>System Architecture Flowchart How Information and Decisions Flow Through the Agent </vt:lpstr>
      <vt:lpstr>Agent Orchestration &amp; Memory Mechanics</vt:lpstr>
      <vt:lpstr>The Data Ingestion Pipeline &amp; Semantic Parsing</vt:lpstr>
      <vt:lpstr>Execution Logic (The Math Offloading Engine)</vt:lpstr>
      <vt:lpstr>System Resilience: Handling Edge Cases &amp; Failures</vt:lpstr>
      <vt:lpstr>Chatbot Token Optimization Framework </vt:lpstr>
      <vt:lpstr>Future Work &amp; Scaling </vt:lpstr>
      <vt:lpstr>System Impact &amp; Hallucination Mitigation</vt:lpstr>
      <vt:lpstr>Demo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sathvik nannu</dc:creator>
  <cp:lastModifiedBy>sathvik nannu</cp:lastModifiedBy>
  <cp:revision>8</cp:revision>
  <dcterms:created xsi:type="dcterms:W3CDTF">2026-06-13T10:01:49Z</dcterms:created>
  <dcterms:modified xsi:type="dcterms:W3CDTF">2026-06-22T16:00:57Z</dcterms:modified>
</cp:coreProperties>
</file>