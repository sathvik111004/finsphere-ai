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11444"/>
    <p:restoredTop sz="94624"/>
  </p:normalViewPr>
  <p:slideViewPr>
    <p:cSldViewPr snapToGrid="0">
      <p:cViewPr>
        <p:scale>
          <a:sx n="109" d="100"/>
          <a:sy n="109" d="100"/>
        </p:scale>
        <p:origin x="1192" y="2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D9F8E9-8C3E-C489-1430-976DC19CE6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0483796-9AED-E0C3-E02F-818537307B2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987994-82BE-884D-53A6-CB9E5D0757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4C33FA-3654-024D-9BA6-C5BBD14F2F7B}" type="datetimeFigureOut">
              <a:rPr lang="en-US" smtClean="0"/>
              <a:t>6/21/26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0796C0-5BFB-9489-A997-83740EDCA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6A8B00-EED8-88D9-6932-41098E94D2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7431A3-5B36-8A48-9FEF-50E41A56A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74952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DB5A43-0CFC-7954-1DAC-9EEF5A9D8F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23470F-B7C5-81A7-F120-4CF43E1B89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3DBCE4-AAB4-14AB-33DE-1FF3C0329B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4C33FA-3654-024D-9BA6-C5BBD14F2F7B}" type="datetimeFigureOut">
              <a:rPr lang="en-US" smtClean="0"/>
              <a:t>6/21/26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1696E5-D94E-4A4C-26A9-3A68E4BBF6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C1C503-58FA-5F46-E002-42B63ED2F4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7431A3-5B36-8A48-9FEF-50E41A56A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70461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3E47BD-F3A6-D4C5-F63C-CA8FC983F7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B3843B-3C40-CD45-BC7B-C772807073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C3475D-6836-A767-7C92-2FF3BA65F7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4C33FA-3654-024D-9BA6-C5BBD14F2F7B}" type="datetimeFigureOut">
              <a:rPr lang="en-US" smtClean="0"/>
              <a:t>6/21/26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B1B722-BBF8-735B-E2E7-2086DD1ED1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28A221-68BC-6A9D-B5CA-01633F8AF6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7431A3-5B36-8A48-9FEF-50E41A56A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8652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5E758B-D94A-6F1E-6FAF-4729924633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26FA7C-696D-3388-652F-3E38CB2ACF9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D922A7-D12E-D858-455D-6724FE7B88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5A9C9E-5984-BE2E-9DC3-7555D90F88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4C33FA-3654-024D-9BA6-C5BBD14F2F7B}" type="datetimeFigureOut">
              <a:rPr lang="en-US" smtClean="0"/>
              <a:t>6/21/26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389791-19A9-C086-AF5A-F28F8F10FC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DDEB62-5764-ADCC-DF17-E7EC2D9695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7431A3-5B36-8A48-9FEF-50E41A56A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68058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67E026-15AE-464C-EF18-F8C437E899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0F6523-DD00-80FF-33CE-A2A7664E50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2E9ECB-90B7-248A-3449-1AE77C006F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82833DE-7DAB-7C85-B13E-F5E9A12537D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390892A-4035-F649-32C7-FF816F89B6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2E513C3-AC47-4411-82EE-3AE32E3619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4C33FA-3654-024D-9BA6-C5BBD14F2F7B}" type="datetimeFigureOut">
              <a:rPr lang="en-US" smtClean="0"/>
              <a:t>6/21/26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000427D-5607-6820-5394-20BE648FCD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4807792-F9D7-FFAA-61E5-46D3A7AD70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7431A3-5B36-8A48-9FEF-50E41A56A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89765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6EDF44-9B4C-90A2-43AB-47D524BAA8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4B25805-2430-8FB4-E809-AD277AF661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4C33FA-3654-024D-9BA6-C5BBD14F2F7B}" type="datetimeFigureOut">
              <a:rPr lang="en-US" smtClean="0"/>
              <a:t>6/21/26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80577CB-310A-C115-772D-7B6825A28A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3335757-225C-076E-7793-3536AE663D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7431A3-5B36-8A48-9FEF-50E41A56A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55497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552491E-1303-1851-7CF8-05A538BCB6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4C33FA-3654-024D-9BA6-C5BBD14F2F7B}" type="datetimeFigureOut">
              <a:rPr lang="en-US" smtClean="0"/>
              <a:t>6/21/26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AF5BE71-8FF3-519A-9CDE-5BD45AB5A1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553AC4-2637-CF27-B3E7-489E59A0AE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7431A3-5B36-8A48-9FEF-50E41A56A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8059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92C8EC-239A-BCFA-3033-4D31CB9410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42169E-E7E5-D89D-D7ED-D967AA0CDB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05EDF9D-7D58-67FC-7196-4834C50C0E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C9D7C9-25D1-31BC-ED73-486497A3CA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4C33FA-3654-024D-9BA6-C5BBD14F2F7B}" type="datetimeFigureOut">
              <a:rPr lang="en-US" smtClean="0"/>
              <a:t>6/21/26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7A752B-A3D3-270F-77F5-EC8E81C330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BD7EFC-C83C-FD61-2FBF-2401CCF03C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7431A3-5B36-8A48-9FEF-50E41A56A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12581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E34829-E280-2F96-EC86-DBBA5BFD23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644D35B-9CA8-B465-B89D-16A9706B09D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E267EEC-3AC0-0BD7-E995-847AAE09A1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90D085-7435-B339-D750-1337D59354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4C33FA-3654-024D-9BA6-C5BBD14F2F7B}" type="datetimeFigureOut">
              <a:rPr lang="en-US" smtClean="0"/>
              <a:t>6/21/26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8C99AE-4E6D-FEB8-1BAA-D0744E3A0C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4072EE-772E-9E60-0A26-E69A4DE8C6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7431A3-5B36-8A48-9FEF-50E41A56A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484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553BD0-573D-1A3A-EF2B-541E237EE5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A2239C4-A07A-D3D7-094D-585ED3A918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B8E6CD-9D7E-BA18-7FFF-C1811B4A91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4C33FA-3654-024D-9BA6-C5BBD14F2F7B}" type="datetimeFigureOut">
              <a:rPr lang="en-US" smtClean="0"/>
              <a:t>6/21/26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708B67-4A26-B790-2941-1E6FB4A829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4DA950-CFA3-FFA4-5E2D-1BF9D86001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7431A3-5B36-8A48-9FEF-50E41A56A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56903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992A835-3F60-5D92-3E01-A5624A55841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5DF7DA7-9620-8C35-7DF0-73822F44B8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12CA08-FE77-86C8-66CF-B607283589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4C33FA-3654-024D-9BA6-C5BBD14F2F7B}" type="datetimeFigureOut">
              <a:rPr lang="en-US" smtClean="0"/>
              <a:t>6/21/26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7E1486-50AC-2441-0638-CD6D4D1455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A6548B-CF54-BE46-E180-D2D73445C0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7431A3-5B36-8A48-9FEF-50E41A56A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74328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B9A2013-F554-BA56-D17C-4713B28A8F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04F1CB-CC33-4FFC-83F7-95F083BE32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644C70-209F-1DD7-DB03-E5A53CD0D1E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F4C33FA-3654-024D-9BA6-C5BBD14F2F7B}" type="datetimeFigureOut">
              <a:rPr lang="en-US" smtClean="0"/>
              <a:t>6/21/26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0965D4-B5A8-FB99-0E79-CF8AD4E891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F08415-8405-5617-7630-86A458BB3E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87431A3-5B36-8A48-9FEF-50E41A56A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81707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625DAD-6CC9-D3A2-C047-7D26FC729D0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FINSPEHERE AI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E6054F2-657C-BFB1-58F9-994BBFD0E1C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07471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D661E1-04A0-D2F0-538D-724323477E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EB5813-4A12-4C12-6FD3-1FB72399C1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IN" b="1" dirty="0"/>
              <a:t>Traditional Systems vs FinSphere AI</a:t>
            </a:r>
          </a:p>
          <a:p>
            <a:pPr marL="0" indent="0">
              <a:buNone/>
            </a:pPr>
            <a:r>
              <a:rPr lang="en-IN" b="1" dirty="0"/>
              <a:t>Traditional Approach: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Financial documents and prediction models exist in separate systems.</a:t>
            </a:r>
          </a:p>
          <a:p>
            <a:pPr marL="0" indent="0">
              <a:buNone/>
            </a:pPr>
            <a:r>
              <a:rPr lang="en-IN" dirty="0"/>
              <a:t>Analysts manually extract numbers from reports and enter them into forecasting or risk tools.</a:t>
            </a:r>
          </a:p>
          <a:p>
            <a:pPr marL="0" indent="0">
              <a:buNone/>
            </a:pPr>
            <a:r>
              <a:rPr lang="en-IN" dirty="0"/>
              <a:t>This process is slow, repetitive, and error-prone.</a:t>
            </a:r>
          </a:p>
          <a:p>
            <a:r>
              <a:rPr lang="en-IN" b="1" dirty="0"/>
              <a:t>FinSphere AI Approach: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Automatically reads financial reports.</a:t>
            </a:r>
          </a:p>
          <a:p>
            <a:pPr marL="0" indent="0">
              <a:buNone/>
            </a:pPr>
            <a:r>
              <a:rPr lang="en-IN" dirty="0"/>
              <a:t>Extracts relevant information.</a:t>
            </a:r>
          </a:p>
          <a:p>
            <a:pPr marL="0" indent="0">
              <a:buNone/>
            </a:pPr>
            <a:r>
              <a:rPr lang="en-IN" dirty="0"/>
              <a:t>Runs risk, forecasting, and anomaly models directly.</a:t>
            </a:r>
          </a:p>
          <a:p>
            <a:pPr marL="0" indent="0">
              <a:buNone/>
            </a:pPr>
            <a:r>
              <a:rPr lang="en-IN" dirty="0"/>
              <a:t>Generates a unified financial analysis without manual intervention.</a:t>
            </a:r>
          </a:p>
          <a:p>
            <a:r>
              <a:rPr lang="en-IN" b="1" dirty="0"/>
              <a:t>One-Liner:</a:t>
            </a:r>
            <a:endParaRPr lang="en-IN" dirty="0"/>
          </a:p>
          <a:p>
            <a:r>
              <a:rPr lang="en-IN" dirty="0"/>
              <a:t>FinSphere AI bridges the gap between document analysis and predictive </a:t>
            </a:r>
            <a:r>
              <a:rPr lang="en-IN" dirty="0" err="1"/>
              <a:t>modeling</a:t>
            </a:r>
            <a:r>
              <a:rPr lang="en-IN" dirty="0"/>
              <a:t> by combining both into a single intelligent platform.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07147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4318F5-A2B5-B06A-FE73-DA8BFBA50B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184468-36DD-94AA-DFC1-30307E4E57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IN" b="1" dirty="0"/>
              <a:t>Session-Isolated Storage for Raw Financial PDFs (10-Ks, 10-Qs)</a:t>
            </a:r>
          </a:p>
          <a:p>
            <a:pPr marL="0" indent="0">
              <a:buNone/>
            </a:pPr>
            <a:r>
              <a:rPr lang="en-IN" dirty="0"/>
              <a:t>Each user's uploaded financial documents are stored in a separate, secure workspace.</a:t>
            </a:r>
          </a:p>
          <a:p>
            <a:pPr marL="0" indent="0">
              <a:buNone/>
            </a:pPr>
            <a:r>
              <a:rPr lang="en-IN" dirty="0"/>
              <a:t>Users can only access and query their own reports; documents from other users remain completely isolated.</a:t>
            </a:r>
          </a:p>
          <a:p>
            <a:pPr marL="0" indent="0">
              <a:buNone/>
            </a:pPr>
            <a:r>
              <a:rPr lang="en-IN" dirty="0"/>
              <a:t>This ensures </a:t>
            </a:r>
            <a:r>
              <a:rPr lang="en-IN" b="1" dirty="0"/>
              <a:t>data privacy, security, and multi-tenant separation</a:t>
            </a:r>
            <a:r>
              <a:rPr lang="en-IN" dirty="0"/>
              <a:t> within the platform.</a:t>
            </a:r>
          </a:p>
          <a:p>
            <a:r>
              <a:rPr lang="en-IN" b="1" dirty="0"/>
              <a:t>Example: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User A uploads Tesla 10-K</a:t>
            </a:r>
            <a:br>
              <a:rPr lang="en-IN" dirty="0"/>
            </a:br>
            <a:r>
              <a:rPr lang="en-IN" dirty="0"/>
              <a:t>→ Only User A's AI Copilot can access it.</a:t>
            </a:r>
          </a:p>
          <a:p>
            <a:pPr marL="0" indent="0">
              <a:buNone/>
            </a:pPr>
            <a:r>
              <a:rPr lang="en-IN" dirty="0"/>
              <a:t>User B uploads Apple 10-K</a:t>
            </a:r>
            <a:br>
              <a:rPr lang="en-IN" dirty="0"/>
            </a:br>
            <a:r>
              <a:rPr lang="en-IN" dirty="0"/>
              <a:t>→ User B cannot see or query Tesla's documents.</a:t>
            </a:r>
          </a:p>
          <a:p>
            <a:r>
              <a:rPr lang="en-IN" b="1" dirty="0"/>
              <a:t>One-Liner for Slide: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Financial reports are securely stored with user-specific isolation, ensuring private and controlled access to uploaded documents.</a:t>
            </a:r>
          </a:p>
          <a:p>
            <a:r>
              <a:rPr lang="en-US" dirty="0"/>
              <a:t>10 – K = Annual Report , 10 – Q = Quarterly report</a:t>
            </a:r>
          </a:p>
        </p:txBody>
      </p:sp>
    </p:spTree>
    <p:extLst>
      <p:ext uri="{BB962C8B-B14F-4D97-AF65-F5344CB8AC3E}">
        <p14:creationId xmlns:p14="http://schemas.microsoft.com/office/powerpoint/2010/main" val="35814907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4421BE-C20B-23C4-3DD4-EAF76A82D8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PT Serif" panose="020A0603040505020204" pitchFamily="18" charset="77"/>
              </a:rPr>
              <a:t>Advanced Deterministic Solvers</a:t>
            </a:r>
            <a:br>
              <a:rPr lang="en-US" sz="4000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03605A-17C5-4964-B87E-4F68E01A53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15526"/>
            <a:ext cx="2969871" cy="3560058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IN" sz="1600" b="1" dirty="0"/>
              <a:t>1. Altman Z-Score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IN" sz="1600" b="1" dirty="0"/>
              <a:t>What it is:</a:t>
            </a:r>
            <a:br>
              <a:rPr lang="en-IN" sz="1600" dirty="0"/>
            </a:br>
            <a:r>
              <a:rPr lang="en-IN" sz="1600" dirty="0"/>
              <a:t>A financial formula used to estimate the likelihood of a company going bankrupt.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IN" sz="1600" b="1" dirty="0"/>
              <a:t>What it </a:t>
            </a:r>
            <a:r>
              <a:rPr lang="en-IN" sz="1600" b="1" dirty="0" err="1"/>
              <a:t>analyzes</a:t>
            </a:r>
            <a:r>
              <a:rPr lang="en-IN" sz="1600" b="1" dirty="0"/>
              <a:t>:</a:t>
            </a:r>
            <a:endParaRPr lang="en-IN" sz="1600" dirty="0"/>
          </a:p>
          <a:p>
            <a:pPr marL="0" indent="0">
              <a:lnSpc>
                <a:spcPct val="100000"/>
              </a:lnSpc>
              <a:buNone/>
            </a:pPr>
            <a:r>
              <a:rPr lang="en-IN" sz="1600" dirty="0"/>
              <a:t>Working Capital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IN" sz="1600" dirty="0"/>
              <a:t>Retained Earnings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IN" sz="1600" dirty="0"/>
              <a:t>Sales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IN" sz="1600" b="1" dirty="0"/>
              <a:t>Output:</a:t>
            </a:r>
            <a:endParaRPr lang="en-IN" sz="1600" dirty="0"/>
          </a:p>
          <a:p>
            <a:pPr marL="0" indent="0">
              <a:lnSpc>
                <a:spcPct val="100000"/>
              </a:lnSpc>
              <a:buNone/>
            </a:pPr>
            <a:r>
              <a:rPr lang="en-IN" sz="1600" dirty="0"/>
              <a:t>Safe Zone → Financially healthy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IN" sz="1600" dirty="0"/>
              <a:t>Gray Zone → Moderate risk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IN" sz="1600" dirty="0"/>
              <a:t>Distress Zone → High bankruptcy risk</a:t>
            </a:r>
          </a:p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E42B285-B263-ECC3-57F9-4A00E5D5FFAF}"/>
              </a:ext>
            </a:extLst>
          </p:cNvPr>
          <p:cNvSpPr txBox="1"/>
          <p:nvPr/>
        </p:nvSpPr>
        <p:spPr>
          <a:xfrm>
            <a:off x="4206241" y="1584961"/>
            <a:ext cx="3438144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b="1" dirty="0"/>
              <a:t>2. Ridge Regression</a:t>
            </a:r>
          </a:p>
          <a:p>
            <a:r>
              <a:rPr lang="en-IN" sz="1400" b="1" dirty="0"/>
              <a:t>What it is:</a:t>
            </a:r>
            <a:br>
              <a:rPr lang="en-IN" sz="1400" dirty="0"/>
            </a:br>
            <a:r>
              <a:rPr lang="en-IN" sz="1400" dirty="0"/>
              <a:t>A machine learning algorithm used for predicting continuous values.</a:t>
            </a:r>
          </a:p>
          <a:p>
            <a:r>
              <a:rPr lang="en-IN" sz="1400" b="1" dirty="0"/>
              <a:t>In FinSphere AI:</a:t>
            </a:r>
            <a:br>
              <a:rPr lang="en-IN" sz="1400" dirty="0"/>
            </a:br>
            <a:r>
              <a:rPr lang="en-IN" sz="1400" dirty="0"/>
              <a:t>It learns from historical revenue data and predicts future revenue trends.</a:t>
            </a:r>
          </a:p>
          <a:p>
            <a:r>
              <a:rPr lang="en-IN" sz="1400" b="1" dirty="0"/>
              <a:t>Example:</a:t>
            </a:r>
            <a:endParaRPr lang="en-IN" sz="1400" dirty="0"/>
          </a:p>
          <a:p>
            <a:r>
              <a:rPr lang="en-IN" sz="1400" dirty="0"/>
              <a:t>Q1 = $100M</a:t>
            </a:r>
          </a:p>
          <a:p>
            <a:r>
              <a:rPr lang="en-IN" sz="1400" dirty="0"/>
              <a:t>Q2 = $120M</a:t>
            </a:r>
          </a:p>
          <a:p>
            <a:r>
              <a:rPr lang="en-IN" sz="1400" dirty="0"/>
              <a:t>Q3 = $140M</a:t>
            </a:r>
          </a:p>
          <a:p>
            <a:r>
              <a:rPr lang="en-IN" sz="1400" dirty="0"/>
              <a:t>Q4 = $160M</a:t>
            </a:r>
          </a:p>
          <a:p>
            <a:r>
              <a:rPr lang="en-IN" sz="1400" dirty="0"/>
              <a:t>↓</a:t>
            </a:r>
          </a:p>
          <a:p>
            <a:r>
              <a:rPr lang="en-IN" sz="1400" dirty="0"/>
              <a:t>Predict Q5 Revenue</a:t>
            </a:r>
          </a:p>
          <a:p>
            <a:r>
              <a:rPr lang="en-IN" sz="1400" b="1" dirty="0"/>
              <a:t>Why Ridge Regression?</a:t>
            </a:r>
            <a:endParaRPr lang="en-IN" sz="1400" dirty="0"/>
          </a:p>
          <a:p>
            <a:r>
              <a:rPr lang="en-IN" sz="1400" dirty="0"/>
              <a:t>Handles noisy financial data well</a:t>
            </a:r>
          </a:p>
          <a:p>
            <a:r>
              <a:rPr lang="en-IN" sz="1400" dirty="0"/>
              <a:t>Reduces overfitting</a:t>
            </a:r>
          </a:p>
          <a:p>
            <a:r>
              <a:rPr lang="en-IN" sz="1400" dirty="0"/>
              <a:t>Produces stable forecasts</a:t>
            </a:r>
          </a:p>
          <a:p>
            <a:br>
              <a:rPr lang="en-IN" dirty="0"/>
            </a:br>
            <a:endParaRPr lang="en-IN" dirty="0"/>
          </a:p>
          <a:p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D9D2770-7EDB-1091-3447-2B3B9E6AE3BB}"/>
              </a:ext>
            </a:extLst>
          </p:cNvPr>
          <p:cNvSpPr txBox="1"/>
          <p:nvPr/>
        </p:nvSpPr>
        <p:spPr>
          <a:xfrm>
            <a:off x="7793053" y="1515525"/>
            <a:ext cx="3958917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3. Isolation Forest</a:t>
            </a:r>
          </a:p>
          <a:p>
            <a:r>
              <a:rPr lang="en-IN" sz="1600" b="1" dirty="0"/>
              <a:t>What it is:</a:t>
            </a:r>
            <a:br>
              <a:rPr lang="en-IN" sz="1600" dirty="0"/>
            </a:br>
            <a:r>
              <a:rPr lang="en-IN" sz="1600" dirty="0"/>
              <a:t>A machine learning algorithm designed to detect unusual or abnormal data points (anomalies).</a:t>
            </a:r>
          </a:p>
          <a:p>
            <a:r>
              <a:rPr lang="en-IN" sz="1600" b="1" dirty="0"/>
              <a:t>In FinSphere AI:</a:t>
            </a:r>
            <a:endParaRPr lang="en-IN" sz="1600" dirty="0"/>
          </a:p>
          <a:p>
            <a:r>
              <a:rPr lang="en-IN" sz="1600" dirty="0"/>
              <a:t>Normal Company:</a:t>
            </a:r>
          </a:p>
          <a:p>
            <a:r>
              <a:rPr lang="en-IN" sz="1600" dirty="0"/>
              <a:t>Profit Margin = 15%</a:t>
            </a:r>
          </a:p>
          <a:p>
            <a:r>
              <a:rPr lang="en-IN" sz="1600" dirty="0"/>
              <a:t>Debt Ratio = 1.2</a:t>
            </a:r>
          </a:p>
          <a:p>
            <a:r>
              <a:rPr lang="en-IN" sz="1600" dirty="0"/>
              <a:t>Abnormal Company:</a:t>
            </a:r>
          </a:p>
          <a:p>
            <a:r>
              <a:rPr lang="en-IN" sz="1600" dirty="0"/>
              <a:t>Profit Margin = -60%</a:t>
            </a:r>
          </a:p>
          <a:p>
            <a:r>
              <a:rPr lang="en-IN" sz="1600" dirty="0"/>
              <a:t>Debt Ratio = 5.5</a:t>
            </a:r>
          </a:p>
          <a:p>
            <a:r>
              <a:rPr lang="en-IN" sz="1600" dirty="0"/>
              <a:t>↓</a:t>
            </a:r>
          </a:p>
          <a:p>
            <a:r>
              <a:rPr lang="en-IN" sz="1600" dirty="0"/>
              <a:t>Flag as anomaly</a:t>
            </a:r>
          </a:p>
          <a:p>
            <a:r>
              <a:rPr lang="en-IN" sz="1600" b="1" dirty="0"/>
              <a:t>Why it is useful:</a:t>
            </a:r>
            <a:br>
              <a:rPr lang="en-IN" sz="1600" dirty="0"/>
            </a:br>
            <a:r>
              <a:rPr lang="en-IN" sz="1600" dirty="0"/>
              <a:t>Helps identify:</a:t>
            </a:r>
          </a:p>
          <a:p>
            <a:r>
              <a:rPr lang="en-IN" sz="1600" dirty="0"/>
              <a:t>Suspicious financial records</a:t>
            </a:r>
          </a:p>
          <a:p>
            <a:r>
              <a:rPr lang="en-IN" sz="1600" dirty="0"/>
              <a:t>Accounting irregularities</a:t>
            </a:r>
          </a:p>
          <a:p>
            <a:r>
              <a:rPr lang="en-IN" sz="1600" dirty="0"/>
              <a:t>Potential reporting errors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43633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CCE9EB-9D86-2F99-F4E4-C5021CBCD6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PT Serif" pitchFamily="34" charset="0"/>
                <a:ea typeface="PT Serif" pitchFamily="34" charset="-122"/>
                <a:cs typeface="PT Serif" pitchFamily="34" charset="-120"/>
              </a:rPr>
              <a:t>Introducing the FinSphereAI ReAct Chatbot Agent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5B997C-B8AD-BDC8-B7FD-CD3FBBC91F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Thought </a:t>
            </a:r>
          </a:p>
          <a:p>
            <a:r>
              <a:rPr lang="en-US" dirty="0"/>
              <a:t>Action</a:t>
            </a:r>
          </a:p>
          <a:p>
            <a:r>
              <a:rPr lang="en-US" dirty="0"/>
              <a:t>Observation</a:t>
            </a:r>
          </a:p>
        </p:txBody>
      </p:sp>
    </p:spTree>
    <p:extLst>
      <p:ext uri="{BB962C8B-B14F-4D97-AF65-F5344CB8AC3E}">
        <p14:creationId xmlns:p14="http://schemas.microsoft.com/office/powerpoint/2010/main" val="9166327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782E09-C8E7-E3C0-9E8E-943292C3E9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PT Serif" pitchFamily="34" charset="0"/>
                <a:ea typeface="PT Serif" pitchFamily="34" charset="-122"/>
                <a:cs typeface="PT Serif" pitchFamily="34" charset="-120"/>
              </a:rPr>
              <a:t>Introducing the FinSphereAI ReAct Chatbot Agent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BE0EC4-80F9-8DF8-9E2B-52B6E5DEB2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IN" b="1" dirty="0"/>
              <a:t>LangChain-Orchestrated Agent</a:t>
            </a:r>
          </a:p>
          <a:p>
            <a:pPr marL="0" indent="0">
              <a:buNone/>
            </a:pPr>
            <a:r>
              <a:rPr lang="en-IN" dirty="0"/>
              <a:t>LangChain acts as the coordinator that manages AI reasoning, document retrieval, and tool execution to generate intelligent responses.</a:t>
            </a:r>
          </a:p>
          <a:p>
            <a:r>
              <a:rPr lang="en-IN" b="1" dirty="0"/>
              <a:t>Binding User Session Context</a:t>
            </a:r>
          </a:p>
          <a:p>
            <a:pPr marL="0" indent="0">
              <a:buNone/>
            </a:pPr>
            <a:r>
              <a:rPr lang="en-IN" dirty="0"/>
              <a:t>Ensures the agent only accesses and </a:t>
            </a:r>
            <a:r>
              <a:rPr lang="en-IN" dirty="0" err="1"/>
              <a:t>analyzes</a:t>
            </a:r>
            <a:r>
              <a:rPr lang="en-IN" dirty="0"/>
              <a:t> documents belonging to the current user, maintaining data isolation and security.</a:t>
            </a:r>
          </a:p>
          <a:p>
            <a:r>
              <a:rPr lang="en-IN" b="1" dirty="0"/>
              <a:t>Multi-Turn Chat Memory</a:t>
            </a:r>
          </a:p>
          <a:p>
            <a:pPr marL="0" indent="0">
              <a:buNone/>
            </a:pPr>
            <a:r>
              <a:rPr lang="en-IN" dirty="0"/>
              <a:t>Allows the agent to remember previous conversation context, enabling natural follow-up questions without repeating information.</a:t>
            </a:r>
          </a:p>
          <a:p>
            <a:pPr marL="0" indent="0">
              <a:buNone/>
            </a:pPr>
            <a:r>
              <a:rPr lang="en-IN" dirty="0"/>
              <a:t>A LangChain-powered agent that securely accesses user-specific data, remembers conversation history, and orchestrates AI reasoning across multiple tools.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41085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B10BD2-19D2-8B52-ED31-F6E8D8ABE6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System Architecture Flowchart</a:t>
            </a:r>
            <a:br>
              <a:rPr lang="en-US" dirty="0"/>
            </a:br>
            <a:r>
              <a:rPr lang="en-US" dirty="0"/>
              <a:t>How Information and Decisions Flow Through the Agent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55BDDA-AA8D-82B2-BD59-3BEC8B81E8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Explain Diagram</a:t>
            </a:r>
          </a:p>
        </p:txBody>
      </p:sp>
    </p:spTree>
    <p:extLst>
      <p:ext uri="{BB962C8B-B14F-4D97-AF65-F5344CB8AC3E}">
        <p14:creationId xmlns:p14="http://schemas.microsoft.com/office/powerpoint/2010/main" val="37162340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697543-4D2E-366F-99AA-B67E4D4E9F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PT Serif" panose="020A0603040505020204" pitchFamily="18" charset="77"/>
              </a:rPr>
              <a:t>Agent Orchestration &amp; Memory Mechanics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9BB668-80FB-C59C-428F-70D8D8C7E7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144617" cy="4351338"/>
          </a:xfrm>
        </p:spPr>
        <p:txBody>
          <a:bodyPr>
            <a:normAutofit fontScale="62500" lnSpcReduction="20000"/>
          </a:bodyPr>
          <a:lstStyle/>
          <a:p>
            <a:r>
              <a:rPr lang="en-IN" b="1" dirty="0" err="1"/>
              <a:t>Pydantic</a:t>
            </a:r>
            <a:r>
              <a:rPr lang="en-IN" b="1" dirty="0"/>
              <a:t> Schema</a:t>
            </a:r>
          </a:p>
          <a:p>
            <a:pPr marL="0" indent="0">
              <a:buNone/>
            </a:pPr>
            <a:r>
              <a:rPr lang="en-IN" dirty="0"/>
              <a:t>A data validation framework that ensures the AI passes correctly formatted and required inputs to Python functions before execution.</a:t>
            </a:r>
          </a:p>
          <a:p>
            <a:r>
              <a:rPr lang="en-IN" b="1" dirty="0"/>
              <a:t>Example:</a:t>
            </a:r>
            <a:br>
              <a:rPr lang="en-IN" dirty="0"/>
            </a:br>
            <a:r>
              <a:rPr lang="en-IN" dirty="0"/>
              <a:t>The agent must provide:</a:t>
            </a:r>
          </a:p>
          <a:p>
            <a:pPr marL="0" indent="0">
              <a:buNone/>
            </a:pPr>
            <a:r>
              <a:rPr lang="en-IN" dirty="0"/>
              <a:t>total_assets</a:t>
            </a:r>
          </a:p>
          <a:p>
            <a:pPr marL="0" indent="0">
              <a:buNone/>
            </a:pPr>
            <a:r>
              <a:rPr lang="en-IN" dirty="0"/>
              <a:t>total_liabilities</a:t>
            </a:r>
          </a:p>
          <a:p>
            <a:pPr marL="0" indent="0">
              <a:buNone/>
            </a:pPr>
            <a:r>
              <a:rPr lang="en-IN" dirty="0"/>
              <a:t>in the correct format before the bankruptcy tool can run.</a:t>
            </a:r>
          </a:p>
          <a:p>
            <a:r>
              <a:rPr lang="en-IN" b="1" dirty="0"/>
              <a:t>One-Liner:</a:t>
            </a:r>
            <a:endParaRPr lang="en-IN" dirty="0"/>
          </a:p>
          <a:p>
            <a:pPr marL="0" indent="0">
              <a:buNone/>
            </a:pPr>
            <a:r>
              <a:rPr lang="en-IN" dirty="0" err="1"/>
              <a:t>Pydantic</a:t>
            </a:r>
            <a:r>
              <a:rPr lang="en-IN" dirty="0"/>
              <a:t> validates and structures tool inputs, preventing incorrect or missing parameters during execution.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398D8F5-1207-7047-62A7-BB225B488A89}"/>
              </a:ext>
            </a:extLst>
          </p:cNvPr>
          <p:cNvSpPr txBox="1"/>
          <p:nvPr/>
        </p:nvSpPr>
        <p:spPr>
          <a:xfrm>
            <a:off x="5740420" y="1825625"/>
            <a:ext cx="5179372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ConversationSummaryBufferMemory</a:t>
            </a:r>
          </a:p>
          <a:p>
            <a:r>
              <a:rPr lang="en-IN" dirty="0"/>
              <a:t>A LangChain memory mechanism that summarizes older conversations to save tokens while retaining important context.</a:t>
            </a:r>
          </a:p>
          <a:p>
            <a:r>
              <a:rPr lang="en-IN" b="1" dirty="0"/>
              <a:t>Why it is used:</a:t>
            </a:r>
            <a:endParaRPr lang="en-IN" dirty="0"/>
          </a:p>
          <a:p>
            <a:r>
              <a:rPr lang="en-IN" dirty="0"/>
              <a:t>Keeps chat history manageable.</a:t>
            </a:r>
          </a:p>
          <a:p>
            <a:r>
              <a:rPr lang="en-IN" dirty="0"/>
              <a:t>Reduces LLM token usage.</a:t>
            </a:r>
          </a:p>
          <a:p>
            <a:r>
              <a:rPr lang="en-IN" dirty="0"/>
              <a:t>Preserves key financial discussion points.</a:t>
            </a:r>
          </a:p>
          <a:p>
            <a:r>
              <a:rPr lang="en-IN" b="1" dirty="0"/>
              <a:t>One-Liner:</a:t>
            </a:r>
            <a:endParaRPr lang="en-IN" dirty="0"/>
          </a:p>
          <a:p>
            <a:r>
              <a:rPr lang="en-IN" dirty="0"/>
              <a:t>ConversationSummaryBufferMemory compresses older chat history into concise summaries, enabling long conversations without losing important context.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47872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F58511-C0B4-FA10-34B2-D5D38DB0AC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7038703" cy="470897"/>
          </a:xfrm>
        </p:spPr>
        <p:txBody>
          <a:bodyPr>
            <a:normAutofit fontScale="90000"/>
          </a:bodyPr>
          <a:lstStyle/>
          <a:p>
            <a:r>
              <a:rPr lang="en-IN" dirty="0">
                <a:latin typeface="PT Serif" panose="020A0603040505020204" pitchFamily="18" charset="77"/>
              </a:rPr>
              <a:t>The Data Ingestion Pipeline &amp; Semantic Parsing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D4D904-68EA-24B3-B361-3ED7570CA7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6390" y="1375649"/>
            <a:ext cx="4923750" cy="4801314"/>
          </a:xfrm>
        </p:spPr>
        <p:txBody>
          <a:bodyPr>
            <a:normAutofit fontScale="55000" lnSpcReduction="20000"/>
          </a:bodyPr>
          <a:lstStyle/>
          <a:p>
            <a:r>
              <a:rPr lang="en-IN" b="1" dirty="0"/>
              <a:t>all-MiniLM-L6-v2 Embeddings</a:t>
            </a:r>
          </a:p>
          <a:p>
            <a:pPr marL="0" indent="0">
              <a:buNone/>
            </a:pPr>
            <a:r>
              <a:rPr lang="en-IN" dirty="0"/>
              <a:t>A lightweight Sentence Transformer model that converts text into </a:t>
            </a:r>
            <a:r>
              <a:rPr lang="en-IN" b="1" dirty="0"/>
              <a:t>384-dimensional vector embeddings</a:t>
            </a:r>
            <a:r>
              <a:rPr lang="en-IN" dirty="0"/>
              <a:t> for semantic search.</a:t>
            </a:r>
          </a:p>
          <a:p>
            <a:r>
              <a:rPr lang="en-IN" b="1" dirty="0"/>
              <a:t>In FinSphere AI: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Converts document chunks into numerical vectors.</a:t>
            </a:r>
          </a:p>
          <a:p>
            <a:pPr marL="0" indent="0">
              <a:buNone/>
            </a:pPr>
            <a:r>
              <a:rPr lang="en-IN" dirty="0"/>
              <a:t>Stores those vectors in ChromaDB.</a:t>
            </a:r>
          </a:p>
          <a:p>
            <a:pPr marL="0" indent="0">
              <a:buNone/>
            </a:pPr>
            <a:r>
              <a:rPr lang="en-IN" dirty="0"/>
              <a:t>Helps find information based on meaning, not just keywords.</a:t>
            </a:r>
          </a:p>
          <a:p>
            <a:r>
              <a:rPr lang="en-IN" b="1" dirty="0"/>
              <a:t>Example: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Query:</a:t>
            </a:r>
          </a:p>
          <a:p>
            <a:pPr marL="0" indent="0">
              <a:buNone/>
            </a:pPr>
            <a:r>
              <a:rPr lang="en-IN" dirty="0"/>
              <a:t>"financial risk"</a:t>
            </a:r>
          </a:p>
          <a:p>
            <a:pPr marL="0" indent="0">
              <a:buNone/>
            </a:pPr>
            <a:r>
              <a:rPr lang="en-IN" dirty="0"/>
              <a:t>Can retrieve:</a:t>
            </a:r>
          </a:p>
          <a:p>
            <a:pPr marL="0" indent="0">
              <a:buNone/>
            </a:pPr>
            <a:r>
              <a:rPr lang="en-IN" dirty="0"/>
              <a:t>"rising debt and declining cash reserves"</a:t>
            </a:r>
          </a:p>
          <a:p>
            <a:pPr marL="0" indent="0">
              <a:buNone/>
            </a:pPr>
            <a:r>
              <a:rPr lang="en-IN" dirty="0"/>
              <a:t>even if the exact words don't match.</a:t>
            </a:r>
          </a:p>
          <a:p>
            <a:r>
              <a:rPr lang="en-IN" b="1" dirty="0"/>
              <a:t>One-Liner: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all-MiniLM-L6-v2 is the embedding model that transforms financial text into 384-dimensional vectors for semantic retrieval.</a:t>
            </a:r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97B6A6-938A-782C-245D-495C5C65A935}"/>
              </a:ext>
            </a:extLst>
          </p:cNvPr>
          <p:cNvSpPr txBox="1"/>
          <p:nvPr/>
        </p:nvSpPr>
        <p:spPr>
          <a:xfrm>
            <a:off x="5671931" y="1444487"/>
            <a:ext cx="5415169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Maximum Marginal Relevance (MMR)</a:t>
            </a:r>
          </a:p>
          <a:p>
            <a:r>
              <a:rPr lang="en-IN" dirty="0"/>
              <a:t>A retrieval technique that selects document chunks based on both </a:t>
            </a:r>
            <a:r>
              <a:rPr lang="en-IN" b="1" dirty="0"/>
              <a:t>relevance and diversity</a:t>
            </a:r>
            <a:r>
              <a:rPr lang="en-IN" dirty="0"/>
              <a:t>.</a:t>
            </a:r>
          </a:p>
          <a:p>
            <a:r>
              <a:rPr lang="en-IN" b="1" dirty="0"/>
              <a:t>Without MMR:</a:t>
            </a:r>
            <a:endParaRPr lang="en-IN" dirty="0"/>
          </a:p>
          <a:p>
            <a:r>
              <a:rPr lang="en-IN" dirty="0"/>
              <a:t>Top 4 results may all talk about debt.</a:t>
            </a:r>
          </a:p>
          <a:p>
            <a:r>
              <a:rPr lang="en-IN" b="1" dirty="0"/>
              <a:t>With MMR:</a:t>
            </a:r>
            <a:endParaRPr lang="en-IN" dirty="0"/>
          </a:p>
          <a:p>
            <a:r>
              <a:rPr lang="en-IN" dirty="0"/>
              <a:t>Chunk 1 → Debt Risk</a:t>
            </a:r>
          </a:p>
          <a:p>
            <a:r>
              <a:rPr lang="en-IN" dirty="0"/>
              <a:t>Chunk 2 → Revenue Trend</a:t>
            </a:r>
          </a:p>
          <a:p>
            <a:r>
              <a:rPr lang="en-IN" dirty="0"/>
              <a:t>Chunk 3 → Liquidity Position</a:t>
            </a:r>
          </a:p>
          <a:p>
            <a:r>
              <a:rPr lang="en-IN" dirty="0"/>
              <a:t>Chunk 4 → Management Concerns</a:t>
            </a:r>
          </a:p>
          <a:p>
            <a:r>
              <a:rPr lang="en-IN" dirty="0"/>
              <a:t>This gives the LLM a broader understanding of the document.</a:t>
            </a:r>
          </a:p>
          <a:p>
            <a:r>
              <a:rPr lang="en-IN" b="1" dirty="0"/>
              <a:t>One-Liner:</a:t>
            </a:r>
            <a:endParaRPr lang="en-IN" dirty="0"/>
          </a:p>
          <a:p>
            <a:r>
              <a:rPr lang="en-IN" dirty="0"/>
              <a:t>MMR retrieves relevant yet non-redundant document chunks, providing the AI with more diverse and comprehensive context.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39055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871FD0-D096-09E3-867D-B5D8530E1F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PT Serif" panose="020A0603040505020204" pitchFamily="18" charset="77"/>
              </a:rPr>
              <a:t>Execution Logic (The Math Offloading Engine)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992934-607C-07DA-8B3D-0638DD9ABD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Explain</a:t>
            </a:r>
          </a:p>
        </p:txBody>
      </p:sp>
    </p:spTree>
    <p:extLst>
      <p:ext uri="{BB962C8B-B14F-4D97-AF65-F5344CB8AC3E}">
        <p14:creationId xmlns:p14="http://schemas.microsoft.com/office/powerpoint/2010/main" val="37854870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8D9E73-FE4B-B7B7-5FCB-CB27A16AEC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PT Serif" panose="020A0603040505020204" pitchFamily="18" charset="77"/>
              </a:rPr>
              <a:t>System Resilience: Handling Edge Cases &amp; Failures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944558-949F-2651-BDA6-EDE8601358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Explain</a:t>
            </a:r>
          </a:p>
        </p:txBody>
      </p:sp>
    </p:spTree>
    <p:extLst>
      <p:ext uri="{BB962C8B-B14F-4D97-AF65-F5344CB8AC3E}">
        <p14:creationId xmlns:p14="http://schemas.microsoft.com/office/powerpoint/2010/main" val="15682998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F367F9-154C-AC23-29BC-4E62919EC1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>
                <a:latin typeface="PT Serif" pitchFamily="34" charset="0"/>
                <a:ea typeface="PT Serif" pitchFamily="34" charset="-122"/>
                <a:cs typeface="PT Serif" pitchFamily="34" charset="-120"/>
              </a:rPr>
              <a:t>Chatbot Token Optimization Framework</a:t>
            </a:r>
            <a:endParaRPr lang="en-US" sz="3200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39657C76-7F0F-7041-5E45-F023CDFF404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1241069"/>
            <a:ext cx="5928360" cy="347078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FA1D7A6-8115-1CA2-7B76-8D571445C8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8360" y="1241069"/>
            <a:ext cx="5906386" cy="34707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85924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2B82BA-0726-DD6A-D322-9E7A3EF302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Future 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5A5F41-4AA0-D77F-8803-8598A03882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IN" b="1" dirty="0" err="1"/>
              <a:t>Vectorless</a:t>
            </a:r>
            <a:r>
              <a:rPr lang="en-IN" b="1" dirty="0"/>
              <a:t> RAG (GraphRAG)</a:t>
            </a:r>
          </a:p>
          <a:p>
            <a:pPr marL="0" indent="0">
              <a:buNone/>
            </a:pPr>
            <a:r>
              <a:rPr lang="en-IN" dirty="0"/>
              <a:t>Uses a Knowledge Graph instead of only vector search, allowing the AI to understand relationships between companies, financial metrics, and business entities for more accurate answers.</a:t>
            </a:r>
          </a:p>
          <a:p>
            <a:r>
              <a:rPr lang="en-IN" b="1" dirty="0"/>
              <a:t>Advanced Multi-Agent </a:t>
            </a:r>
          </a:p>
          <a:p>
            <a:pPr marL="0" indent="0">
              <a:buNone/>
            </a:pPr>
            <a:r>
              <a:rPr lang="en-IN" dirty="0"/>
              <a:t>Multiple specialized AI agents collaborate together, where each agent handles a specific task such as compliance checking, forecasting, or report generation.</a:t>
            </a:r>
          </a:p>
          <a:p>
            <a:r>
              <a:rPr lang="en-IN" b="1" dirty="0"/>
              <a:t>Real-Time Ingestion Pipelines</a:t>
            </a:r>
          </a:p>
          <a:p>
            <a:pPr marL="0" indent="0">
              <a:buNone/>
            </a:pPr>
            <a:r>
              <a:rPr lang="en-IN" dirty="0"/>
              <a:t>Automatically fetches and indexes newly released corporate filings (10-Ks, 10-Qs) from SEC sources without requiring manual uploads.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75047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991</TotalTime>
  <Words>968</Words>
  <Application>Microsoft Macintosh PowerPoint</Application>
  <PresentationFormat>Widescreen</PresentationFormat>
  <Paragraphs>136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Aptos</vt:lpstr>
      <vt:lpstr>Aptos Display</vt:lpstr>
      <vt:lpstr>Arial</vt:lpstr>
      <vt:lpstr>PT Serif</vt:lpstr>
      <vt:lpstr>Office Theme</vt:lpstr>
      <vt:lpstr>FINSPEHERE AI </vt:lpstr>
      <vt:lpstr>Problem Statement</vt:lpstr>
      <vt:lpstr>Features</vt:lpstr>
      <vt:lpstr>Advanced Deterministic Solvers </vt:lpstr>
      <vt:lpstr>Introducing the FinSphereAI ReAct Chatbot Agent </vt:lpstr>
      <vt:lpstr>Introducing the FinSphereAI ReAct Chatbot Agent </vt:lpstr>
      <vt:lpstr>System Architecture Flowchart How Information and Decisions Flow Through the Agent</vt:lpstr>
      <vt:lpstr>Agent Orchestration &amp; Memory Mechanics</vt:lpstr>
      <vt:lpstr>The Data Ingestion Pipeline &amp; Semantic Parsing</vt:lpstr>
      <vt:lpstr>Execution Logic (The Math Offloading Engine)</vt:lpstr>
      <vt:lpstr>System Resilience: Handling Edge Cases &amp; Failures</vt:lpstr>
      <vt:lpstr>Chatbot Token Optimization Framework</vt:lpstr>
      <vt:lpstr>Future Work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sathvik nannu</dc:creator>
  <cp:lastModifiedBy>sathvik nannu</cp:lastModifiedBy>
  <cp:revision>2</cp:revision>
  <dcterms:created xsi:type="dcterms:W3CDTF">2026-06-21T16:49:13Z</dcterms:created>
  <dcterms:modified xsi:type="dcterms:W3CDTF">2026-06-22T09:20:21Z</dcterms:modified>
</cp:coreProperties>
</file>